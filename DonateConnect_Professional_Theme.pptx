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Divyansh.</a:t>
            </a:r>
          </a:p>
          <a:p/>
          <a:p>
            <a:r>
              <a:t>Good morning everyone. We are Team DonateConnect: I am Divyansh, the team leader, with Shivam. Our idea is simple: make every donation visible, from the moment someone gives to the proof that it helped.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Divyansh.</a:t>
            </a:r>
          </a:p>
          <a:p/>
          <a:p>
            <a:r>
              <a:t>Have you ever donated and wondered where your money went? That is the problem. After a donor pays, they usually hear nothing. They cannot tell which NGOs are genuine, and the receipt they get is generic. Doubt grows, people give less, and good local NGOs lose support. Our central question: how can a donor see exactly what their gift did?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Divyansh.</a:t>
            </a:r>
          </a:p>
          <a:p/>
          <a:p>
            <a:r>
              <a:t>People already have options. Online donation platforms make payment easy. NGO websites share their own reports. Social media spreads appeals quickly. Charity listings describe organisations. But in each case, the gap is the same: none of them lets a donor follow their own gift to a visible result. That is the gap we focus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is DonateConnect. The shift is simple: instead of 'I donated and hope it helped', the donor can think 'donation DC1025 reached a family and I saw the proof'. The gift stays the goal. We add a unique ID, verified local NGOs and delivery proof around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loop. The donor chooses a type and donates. An ID is created. The NGO delivers help and adds proof. The donor tracks it with the ID, and, trusting the result, can give again. Three layers support it: a donor layer, an NGO layer, and a trust layer with the verified badge, a public table and anonymous beneficiary IDs.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key features. A donate form for money, food, clothes, books or medicines. Verified local NGOs. A unique Donation ID. Live tracking with four stages. Delivery proof with photos and a receipt. A public transparency table. A dashboard where NGOs manage gifts and add proof. And privacy first: beneficiaries appear only as anonymous IDs. All of these pages are already designed in our working front-end prototype.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Shivam.</a:t>
            </a:r>
          </a:p>
          <a:p/>
          <a:p>
            <a:r>
              <a:t>Technically, we have built the front end: nine pages with Bootstrap. The next step is a backend API with three parts. A donation engine creates IDs and tracks status. A proof and verification part handles NGO checks and photo uploads with admin review. A tracking part powers ID lookup and the public table with privacy masking. A database stores donors, NGOs, donations, status history, proof files and anonymous beneficiary IDs.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Shivam.</a:t>
            </a:r>
          </a:p>
          <a:p/>
          <a:p>
            <a:r>
              <a:t>Our stack follows the requirements. The front end is already built with HTML, CSS and Bootstrap 5.3.3. For the next phase we plan Node.js with Express for the backend, MongoDB for the database, Razorpay for secure payments, and cloud storage for proof photos. Our principle: problem, then requirement, then technology, then solution. (Replace the planned technologies if your team decides on different ones.)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Divyansh.</a:t>
            </a:r>
          </a:p>
          <a:p/>
          <a:p>
            <a:r>
              <a:t>Is it feasible? Yes: the front end is already built, the technologies are common, and we can start with a few partner NGOs. The limitations are honest ones: verifying NGOs needs admin effort, the system depends on NGOs adding proof on time, our current version uses sample data, and photos need careful privacy handling. The impact: donors who want results, small NGOs who need trust, and families who receive support. Our core value: turn a donation from a payment into a visible, traceable result.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Divyansh.</a:t>
            </a:r>
          </a:p>
          <a:p/>
          <a:p>
            <a:r>
              <a:t>To close: donation DC1025 should reach a family, and the donor should be able to see it. DonateConnect makes every donation visible, from gift to proof. Thank you. We are happy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1097280"/>
            <a:ext cx="3840480" cy="3840480"/>
          </a:xfrm>
          <a:prstGeom prst="ellipse">
            <a:avLst/>
          </a:prstGeom>
          <a:solidFill>
            <a:srgbClr val="1EB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89920" y="4389120"/>
            <a:ext cx="2560320" cy="2560320"/>
          </a:xfrm>
          <a:prstGeom prst="ellipse">
            <a:avLst/>
          </a:prstGeom>
          <a:solidFill>
            <a:srgbClr val="F4B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475488"/>
            <a:ext cx="3200400" cy="256032"/>
          </a:xfrm>
          <a:prstGeom prst="rect">
            <a:avLst/>
          </a:prstGeom>
          <a:noFill/>
        </p:spPr>
        <p:txBody>
          <a:bodyPr wrap="square" lIns="0" rIns="0" tIns="0" bIns="0" anchor="t">
            <a:normAutofit/>
          </a:bodyPr>
          <a:lstStyle/>
          <a:p>
            <a:pPr algn="l"/>
            <a:r>
              <a:rPr sz="1000" b="1">
                <a:solidFill>
                  <a:srgbClr val="1EBEA0"/>
                </a:solidFill>
                <a:latin typeface="Aptos"/>
              </a:rPr>
              <a:t>HACKFORGE IDEATHON</a:t>
            </a:r>
          </a:p>
        </p:txBody>
      </p:sp>
      <p:sp>
        <p:nvSpPr>
          <p:cNvPr id="6" name="TextBox 5"/>
          <p:cNvSpPr txBox="1"/>
          <p:nvPr/>
        </p:nvSpPr>
        <p:spPr>
          <a:xfrm>
            <a:off x="658368" y="1024128"/>
            <a:ext cx="7772400" cy="713232"/>
          </a:xfrm>
          <a:prstGeom prst="rect">
            <a:avLst/>
          </a:prstGeom>
          <a:noFill/>
        </p:spPr>
        <p:txBody>
          <a:bodyPr wrap="square" lIns="0" rIns="0" tIns="0" bIns="0" anchor="t">
            <a:normAutofit/>
          </a:bodyPr>
          <a:lstStyle/>
          <a:p>
            <a:pPr algn="l"/>
            <a:r>
              <a:rPr sz="3900" b="1">
                <a:solidFill>
                  <a:srgbClr val="F8FBFC"/>
                </a:solidFill>
                <a:latin typeface="Aptos"/>
              </a:rPr>
              <a:t>DonateConnect</a:t>
            </a:r>
          </a:p>
        </p:txBody>
      </p:sp>
      <p:sp>
        <p:nvSpPr>
          <p:cNvPr id="7" name="TextBox 6"/>
          <p:cNvSpPr txBox="1"/>
          <p:nvPr/>
        </p:nvSpPr>
        <p:spPr>
          <a:xfrm>
            <a:off x="685800" y="1783080"/>
            <a:ext cx="7955279" cy="502920"/>
          </a:xfrm>
          <a:prstGeom prst="rect">
            <a:avLst/>
          </a:prstGeom>
          <a:noFill/>
        </p:spPr>
        <p:txBody>
          <a:bodyPr wrap="square" lIns="0" rIns="0" tIns="0" bIns="0" anchor="t">
            <a:normAutofit/>
          </a:bodyPr>
          <a:lstStyle/>
          <a:p>
            <a:pPr algn="l"/>
            <a:r>
              <a:rPr sz="1900" b="0">
                <a:solidFill>
                  <a:srgbClr val="AEC1CD"/>
                </a:solidFill>
                <a:latin typeface="Aptos"/>
              </a:rPr>
              <a:t>Making every donation visible — from gift to proof.</a:t>
            </a:r>
          </a:p>
        </p:txBody>
      </p:sp>
      <p:sp>
        <p:nvSpPr>
          <p:cNvPr id="8" name="Rectangle 7"/>
          <p:cNvSpPr/>
          <p:nvPr/>
        </p:nvSpPr>
        <p:spPr>
          <a:xfrm>
            <a:off x="658368" y="2514600"/>
            <a:ext cx="6995160" cy="18288"/>
          </a:xfrm>
          <a:prstGeom prst="rect">
            <a:avLst/>
          </a:prstGeom>
          <a:solidFill>
            <a:srgbClr val="1EB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999232"/>
            <a:ext cx="1097280" cy="228600"/>
          </a:xfrm>
          <a:prstGeom prst="rect">
            <a:avLst/>
          </a:prstGeom>
          <a:noFill/>
        </p:spPr>
        <p:txBody>
          <a:bodyPr wrap="square" lIns="0" rIns="0" tIns="0" bIns="0" anchor="t">
            <a:normAutofit/>
          </a:bodyPr>
          <a:lstStyle/>
          <a:p>
            <a:pPr algn="l"/>
            <a:r>
              <a:rPr sz="950" b="1">
                <a:solidFill>
                  <a:srgbClr val="1EBEA0"/>
                </a:solidFill>
                <a:latin typeface="Aptos"/>
              </a:rPr>
              <a:t>THE IDEA</a:t>
            </a:r>
          </a:p>
        </p:txBody>
      </p:sp>
      <p:sp>
        <p:nvSpPr>
          <p:cNvPr id="10" name="Rounded Rectangle 9"/>
          <p:cNvSpPr/>
          <p:nvPr/>
        </p:nvSpPr>
        <p:spPr>
          <a:xfrm>
            <a:off x="685800" y="3429000"/>
            <a:ext cx="1444752" cy="105156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602736"/>
            <a:ext cx="1170432" cy="228600"/>
          </a:xfrm>
          <a:prstGeom prst="rect">
            <a:avLst/>
          </a:prstGeom>
          <a:noFill/>
        </p:spPr>
        <p:txBody>
          <a:bodyPr wrap="square" lIns="0" rIns="0" tIns="0" bIns="0" anchor="t">
            <a:normAutofit/>
          </a:bodyPr>
          <a:lstStyle/>
          <a:p>
            <a:pPr algn="ctr"/>
            <a:r>
              <a:rPr sz="1000" b="1">
                <a:solidFill>
                  <a:srgbClr val="1EBEA0"/>
                </a:solidFill>
                <a:latin typeface="Aptos"/>
              </a:rPr>
              <a:t>GIVE</a:t>
            </a:r>
          </a:p>
        </p:txBody>
      </p:sp>
      <p:sp>
        <p:nvSpPr>
          <p:cNvPr id="12" name="TextBox 11"/>
          <p:cNvSpPr txBox="1"/>
          <p:nvPr/>
        </p:nvSpPr>
        <p:spPr>
          <a:xfrm>
            <a:off x="795528" y="3904487"/>
            <a:ext cx="1225296" cy="246888"/>
          </a:xfrm>
          <a:prstGeom prst="rect">
            <a:avLst/>
          </a:prstGeom>
          <a:noFill/>
        </p:spPr>
        <p:txBody>
          <a:bodyPr wrap="square" lIns="0" rIns="0" tIns="0" bIns="0" anchor="t">
            <a:normAutofit/>
          </a:bodyPr>
          <a:lstStyle/>
          <a:p>
            <a:pPr algn="ctr"/>
            <a:r>
              <a:rPr sz="1100" b="1">
                <a:solidFill>
                  <a:srgbClr val="F8FBFC"/>
                </a:solidFill>
                <a:latin typeface="Aptos"/>
              </a:rPr>
              <a:t>Donation</a:t>
            </a:r>
          </a:p>
        </p:txBody>
      </p:sp>
      <p:cxnSp>
        <p:nvCxnSpPr>
          <p:cNvPr id="13" name="Connector 12"/>
          <p:cNvCxnSpPr/>
          <p:nvPr/>
        </p:nvCxnSpPr>
        <p:spPr>
          <a:xfrm>
            <a:off x="2148840" y="3959352"/>
            <a:ext cx="256032" cy="0"/>
          </a:xfrm>
          <a:prstGeom prst="line">
            <a:avLst/>
          </a:prstGeom>
          <a:ln w="21590">
            <a:solidFill>
              <a:srgbClr val="AEC1CD"/>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423160" y="3429000"/>
            <a:ext cx="1444752" cy="105156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3602736"/>
            <a:ext cx="1170432" cy="228600"/>
          </a:xfrm>
          <a:prstGeom prst="rect">
            <a:avLst/>
          </a:prstGeom>
          <a:noFill/>
        </p:spPr>
        <p:txBody>
          <a:bodyPr wrap="square" lIns="0" rIns="0" tIns="0" bIns="0" anchor="t">
            <a:normAutofit/>
          </a:bodyPr>
          <a:lstStyle/>
          <a:p>
            <a:pPr algn="ctr"/>
            <a:r>
              <a:rPr sz="1000" b="1">
                <a:solidFill>
                  <a:srgbClr val="F4B74C"/>
                </a:solidFill>
                <a:latin typeface="Aptos"/>
              </a:rPr>
              <a:t>TRACK</a:t>
            </a:r>
          </a:p>
        </p:txBody>
      </p:sp>
      <p:sp>
        <p:nvSpPr>
          <p:cNvPr id="16" name="TextBox 15"/>
          <p:cNvSpPr txBox="1"/>
          <p:nvPr/>
        </p:nvSpPr>
        <p:spPr>
          <a:xfrm>
            <a:off x="2532888" y="3904487"/>
            <a:ext cx="1225296" cy="246888"/>
          </a:xfrm>
          <a:prstGeom prst="rect">
            <a:avLst/>
          </a:prstGeom>
          <a:noFill/>
        </p:spPr>
        <p:txBody>
          <a:bodyPr wrap="square" lIns="0" rIns="0" tIns="0" bIns="0" anchor="t">
            <a:normAutofit/>
          </a:bodyPr>
          <a:lstStyle/>
          <a:p>
            <a:pPr algn="ctr"/>
            <a:r>
              <a:rPr sz="1100" b="1">
                <a:solidFill>
                  <a:srgbClr val="F8FBFC"/>
                </a:solidFill>
                <a:latin typeface="Aptos"/>
              </a:rPr>
              <a:t>Unique ID</a:t>
            </a:r>
          </a:p>
        </p:txBody>
      </p:sp>
      <p:cxnSp>
        <p:nvCxnSpPr>
          <p:cNvPr id="17" name="Connector 16"/>
          <p:cNvCxnSpPr/>
          <p:nvPr/>
        </p:nvCxnSpPr>
        <p:spPr>
          <a:xfrm>
            <a:off x="3886200" y="3959352"/>
            <a:ext cx="256031" cy="0"/>
          </a:xfrm>
          <a:prstGeom prst="line">
            <a:avLst/>
          </a:prstGeom>
          <a:ln w="21590">
            <a:solidFill>
              <a:srgbClr val="AEC1CD"/>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160520" y="3429000"/>
            <a:ext cx="1444752" cy="105156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0" y="3602736"/>
            <a:ext cx="1170432" cy="228600"/>
          </a:xfrm>
          <a:prstGeom prst="rect">
            <a:avLst/>
          </a:prstGeom>
          <a:noFill/>
        </p:spPr>
        <p:txBody>
          <a:bodyPr wrap="square" lIns="0" rIns="0" tIns="0" bIns="0" anchor="t">
            <a:normAutofit/>
          </a:bodyPr>
          <a:lstStyle/>
          <a:p>
            <a:pPr algn="ctr"/>
            <a:r>
              <a:rPr sz="1000" b="1">
                <a:solidFill>
                  <a:srgbClr val="F5705B"/>
                </a:solidFill>
                <a:latin typeface="Aptos"/>
              </a:rPr>
              <a:t>VERIFY</a:t>
            </a:r>
          </a:p>
        </p:txBody>
      </p:sp>
      <p:sp>
        <p:nvSpPr>
          <p:cNvPr id="20" name="TextBox 19"/>
          <p:cNvSpPr txBox="1"/>
          <p:nvPr/>
        </p:nvSpPr>
        <p:spPr>
          <a:xfrm>
            <a:off x="4270248" y="3904487"/>
            <a:ext cx="1225296" cy="246888"/>
          </a:xfrm>
          <a:prstGeom prst="rect">
            <a:avLst/>
          </a:prstGeom>
          <a:noFill/>
        </p:spPr>
        <p:txBody>
          <a:bodyPr wrap="square" lIns="0" rIns="0" tIns="0" bIns="0" anchor="t">
            <a:normAutofit/>
          </a:bodyPr>
          <a:lstStyle/>
          <a:p>
            <a:pPr algn="ctr"/>
            <a:r>
              <a:rPr sz="1100" b="1">
                <a:solidFill>
                  <a:srgbClr val="F8FBFC"/>
                </a:solidFill>
                <a:latin typeface="Aptos"/>
              </a:rPr>
              <a:t>Proof</a:t>
            </a:r>
          </a:p>
        </p:txBody>
      </p:sp>
      <p:cxnSp>
        <p:nvCxnSpPr>
          <p:cNvPr id="21" name="Connector 20"/>
          <p:cNvCxnSpPr/>
          <p:nvPr/>
        </p:nvCxnSpPr>
        <p:spPr>
          <a:xfrm>
            <a:off x="5623560" y="3959352"/>
            <a:ext cx="256032" cy="0"/>
          </a:xfrm>
          <a:prstGeom prst="line">
            <a:avLst/>
          </a:prstGeom>
          <a:ln w="21590">
            <a:solidFill>
              <a:srgbClr val="AEC1C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897880" y="3429000"/>
            <a:ext cx="1444752" cy="105156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0" y="3602736"/>
            <a:ext cx="1170432" cy="228600"/>
          </a:xfrm>
          <a:prstGeom prst="rect">
            <a:avLst/>
          </a:prstGeom>
          <a:noFill/>
        </p:spPr>
        <p:txBody>
          <a:bodyPr wrap="square" lIns="0" rIns="0" tIns="0" bIns="0" anchor="t">
            <a:normAutofit/>
          </a:bodyPr>
          <a:lstStyle/>
          <a:p>
            <a:pPr algn="ctr"/>
            <a:r>
              <a:rPr sz="1000" b="1">
                <a:solidFill>
                  <a:srgbClr val="1EBEA0"/>
                </a:solidFill>
                <a:latin typeface="Aptos"/>
              </a:rPr>
              <a:t>TRUST</a:t>
            </a:r>
          </a:p>
        </p:txBody>
      </p:sp>
      <p:sp>
        <p:nvSpPr>
          <p:cNvPr id="24" name="TextBox 23"/>
          <p:cNvSpPr txBox="1"/>
          <p:nvPr/>
        </p:nvSpPr>
        <p:spPr>
          <a:xfrm>
            <a:off x="6007608" y="3904487"/>
            <a:ext cx="1225296" cy="246888"/>
          </a:xfrm>
          <a:prstGeom prst="rect">
            <a:avLst/>
          </a:prstGeom>
          <a:noFill/>
        </p:spPr>
        <p:txBody>
          <a:bodyPr wrap="square" lIns="0" rIns="0" tIns="0" bIns="0" anchor="t">
            <a:normAutofit/>
          </a:bodyPr>
          <a:lstStyle/>
          <a:p>
            <a:pPr algn="ctr"/>
            <a:r>
              <a:rPr sz="1100" b="1">
                <a:solidFill>
                  <a:srgbClr val="F8FBFC"/>
                </a:solidFill>
                <a:latin typeface="Aptos"/>
              </a:rPr>
              <a:t>Impact</a:t>
            </a:r>
          </a:p>
        </p:txBody>
      </p:sp>
      <p:sp>
        <p:nvSpPr>
          <p:cNvPr id="25" name="Rounded Rectangle 24"/>
          <p:cNvSpPr/>
          <p:nvPr/>
        </p:nvSpPr>
        <p:spPr>
          <a:xfrm>
            <a:off x="8275320" y="2560320"/>
            <a:ext cx="3017520" cy="2331720"/>
          </a:xfrm>
          <a:prstGeom prst="roundRect">
            <a:avLst/>
          </a:prstGeom>
          <a:solidFill>
            <a:srgbClr val="12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77072" y="2889504"/>
            <a:ext cx="2423160" cy="274320"/>
          </a:xfrm>
          <a:prstGeom prst="rect">
            <a:avLst/>
          </a:prstGeom>
          <a:noFill/>
        </p:spPr>
        <p:txBody>
          <a:bodyPr wrap="square" lIns="0" rIns="0" tIns="0" bIns="0" anchor="t">
            <a:normAutofit/>
          </a:bodyPr>
          <a:lstStyle/>
          <a:p>
            <a:pPr algn="l"/>
            <a:r>
              <a:rPr sz="1000" b="1">
                <a:solidFill>
                  <a:srgbClr val="1EBEA0"/>
                </a:solidFill>
                <a:latin typeface="Aptos"/>
              </a:rPr>
              <a:t>TEAM DONATECONNECT</a:t>
            </a:r>
          </a:p>
        </p:txBody>
      </p:sp>
      <p:sp>
        <p:nvSpPr>
          <p:cNvPr id="27" name="TextBox 26"/>
          <p:cNvSpPr txBox="1"/>
          <p:nvPr/>
        </p:nvSpPr>
        <p:spPr>
          <a:xfrm>
            <a:off x="8577072" y="3364992"/>
            <a:ext cx="2423160" cy="640080"/>
          </a:xfrm>
          <a:prstGeom prst="rect">
            <a:avLst/>
          </a:prstGeom>
          <a:noFill/>
        </p:spPr>
        <p:txBody>
          <a:bodyPr wrap="square" lIns="0" rIns="0" tIns="0" bIns="0" anchor="t">
            <a:normAutofit/>
          </a:bodyPr>
          <a:lstStyle/>
          <a:p>
            <a:pPr algn="l"/>
            <a:r>
              <a:rPr sz="1700" b="1">
                <a:solidFill>
                  <a:srgbClr val="F8FBFC"/>
                </a:solidFill>
                <a:latin typeface="Aptos"/>
              </a:rPr>
              <a:t>Divyansh
Team Leader</a:t>
            </a:r>
          </a:p>
        </p:txBody>
      </p:sp>
      <p:sp>
        <p:nvSpPr>
          <p:cNvPr id="28" name="TextBox 27"/>
          <p:cNvSpPr txBox="1"/>
          <p:nvPr/>
        </p:nvSpPr>
        <p:spPr>
          <a:xfrm>
            <a:off x="8577072" y="4041648"/>
            <a:ext cx="2423160" cy="640080"/>
          </a:xfrm>
          <a:prstGeom prst="rect">
            <a:avLst/>
          </a:prstGeom>
          <a:noFill/>
        </p:spPr>
        <p:txBody>
          <a:bodyPr wrap="square" lIns="0" rIns="0" tIns="0" bIns="0" anchor="t">
            <a:normAutofit/>
          </a:bodyPr>
          <a:lstStyle/>
          <a:p>
            <a:pPr algn="l"/>
            <a:r>
              <a:rPr sz="1500" b="0">
                <a:solidFill>
                  <a:srgbClr val="AEC1CD"/>
                </a:solidFill>
                <a:latin typeface="Aptos"/>
              </a:rPr>
              <a:t>Shivam
Technology &amp; Build</a:t>
            </a:r>
          </a:p>
        </p:txBody>
      </p:sp>
      <p:sp>
        <p:nvSpPr>
          <p:cNvPr id="29" name="TextBox 28"/>
          <p:cNvSpPr txBox="1"/>
          <p:nvPr/>
        </p:nvSpPr>
        <p:spPr>
          <a:xfrm>
            <a:off x="685800" y="5989320"/>
            <a:ext cx="6858000" cy="274320"/>
          </a:xfrm>
          <a:prstGeom prst="rect">
            <a:avLst/>
          </a:prstGeom>
          <a:noFill/>
        </p:spPr>
        <p:txBody>
          <a:bodyPr wrap="square" lIns="0" rIns="0" tIns="0" bIns="0" anchor="t">
            <a:normAutofit/>
          </a:bodyPr>
          <a:lstStyle/>
          <a:p>
            <a:pPr algn="l"/>
            <a:r>
              <a:rPr sz="1100" b="0">
                <a:solidFill>
                  <a:srgbClr val="AEC1CD"/>
                </a:solidFill>
                <a:latin typeface="Aptos"/>
              </a:rPr>
              <a:t>Social impact  •  Transparency  •  Trust</a:t>
            </a:r>
          </a:p>
        </p:txBody>
      </p:sp>
      <p:sp>
        <p:nvSpPr>
          <p:cNvPr id="30" name="TextBox 29"/>
          <p:cNvSpPr txBox="1"/>
          <p:nvPr/>
        </p:nvSpPr>
        <p:spPr>
          <a:xfrm>
            <a:off x="640080" y="6547104"/>
            <a:ext cx="4572000" cy="182880"/>
          </a:xfrm>
          <a:prstGeom prst="rect">
            <a:avLst/>
          </a:prstGeom>
          <a:noFill/>
        </p:spPr>
        <p:txBody>
          <a:bodyPr wrap="square" lIns="0" rIns="0" tIns="0" bIns="0" anchor="t">
            <a:normAutofit/>
          </a:bodyPr>
          <a:lstStyle/>
          <a:p>
            <a:pPr algn="l"/>
            <a:r>
              <a:rPr sz="850" b="1">
                <a:solidFill>
                  <a:srgbClr val="5D7989"/>
                </a:solidFill>
                <a:latin typeface="Aptos"/>
              </a:rPr>
              <a:t>DONATECONNECT  •  HACKFORGE IDEATHON</a:t>
            </a:r>
          </a:p>
        </p:txBody>
      </p:sp>
      <p:sp>
        <p:nvSpPr>
          <p:cNvPr id="31" name="TextBox 30"/>
          <p:cNvSpPr txBox="1"/>
          <p:nvPr/>
        </p:nvSpPr>
        <p:spPr>
          <a:xfrm>
            <a:off x="10972800" y="6519672"/>
            <a:ext cx="502920" cy="201168"/>
          </a:xfrm>
          <a:prstGeom prst="rect">
            <a:avLst/>
          </a:prstGeom>
          <a:noFill/>
        </p:spPr>
        <p:txBody>
          <a:bodyPr wrap="square" lIns="0" rIns="0" tIns="0" bIns="0" anchor="t">
            <a:normAutofit/>
          </a:bodyPr>
          <a:lstStyle/>
          <a:p>
            <a:pPr algn="r"/>
            <a:r>
              <a:rPr sz="900" b="1">
                <a:solidFill>
                  <a:srgbClr val="5D7989"/>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3474720" cy="256032"/>
          </a:xfrm>
          <a:prstGeom prst="rect">
            <a:avLst/>
          </a:prstGeom>
          <a:noFill/>
        </p:spPr>
        <p:txBody>
          <a:bodyPr wrap="square" lIns="0" rIns="0" tIns="0" bIns="0" anchor="t">
            <a:normAutofit/>
          </a:bodyPr>
          <a:lstStyle/>
          <a:p>
            <a:pPr algn="l"/>
            <a:r>
              <a:rPr sz="1000" b="1">
                <a:solidFill>
                  <a:srgbClr val="1EBEA0"/>
                </a:solidFill>
                <a:latin typeface="Aptos"/>
              </a:rPr>
              <a:t>01 • THE PROBLEM</a:t>
            </a:r>
          </a:p>
        </p:txBody>
      </p:sp>
      <p:sp>
        <p:nvSpPr>
          <p:cNvPr id="4" name="TextBox 3"/>
          <p:cNvSpPr txBox="1"/>
          <p:nvPr/>
        </p:nvSpPr>
        <p:spPr>
          <a:xfrm>
            <a:off x="640080" y="713232"/>
            <a:ext cx="10789920" cy="566928"/>
          </a:xfrm>
          <a:prstGeom prst="rect">
            <a:avLst/>
          </a:prstGeom>
          <a:noFill/>
        </p:spPr>
        <p:txBody>
          <a:bodyPr wrap="square" lIns="0" rIns="0" tIns="0" bIns="0" anchor="t">
            <a:normAutofit/>
          </a:bodyPr>
          <a:lstStyle/>
          <a:p>
            <a:pPr algn="l"/>
            <a:r>
              <a:rPr sz="2700" b="1">
                <a:solidFill>
                  <a:srgbClr val="F8FBFC"/>
                </a:solidFill>
                <a:latin typeface="Aptos"/>
              </a:rPr>
              <a:t>Giving is easy. Knowing what your gift achieved is not.</a:t>
            </a:r>
          </a:p>
        </p:txBody>
      </p:sp>
      <p:sp>
        <p:nvSpPr>
          <p:cNvPr id="5" name="TextBox 4"/>
          <p:cNvSpPr txBox="1"/>
          <p:nvPr/>
        </p:nvSpPr>
        <p:spPr>
          <a:xfrm>
            <a:off x="640080" y="1307592"/>
            <a:ext cx="10515600" cy="384048"/>
          </a:xfrm>
          <a:prstGeom prst="rect">
            <a:avLst/>
          </a:prstGeom>
          <a:noFill/>
        </p:spPr>
        <p:txBody>
          <a:bodyPr wrap="square" lIns="0" rIns="0" tIns="0" bIns="0" anchor="t">
            <a:normAutofit/>
          </a:bodyPr>
          <a:lstStyle/>
          <a:p>
            <a:pPr algn="l"/>
            <a:r>
              <a:rPr sz="1250" b="0">
                <a:solidFill>
                  <a:srgbClr val="AEC1CD"/>
                </a:solidFill>
                <a:latin typeface="Aptos"/>
              </a:rPr>
              <a:t>The trust gap begins after payment.</a:t>
            </a:r>
          </a:p>
        </p:txBody>
      </p:sp>
      <p:sp>
        <p:nvSpPr>
          <p:cNvPr id="6" name="Rounded Rectangle 5"/>
          <p:cNvSpPr/>
          <p:nvPr/>
        </p:nvSpPr>
        <p:spPr>
          <a:xfrm>
            <a:off x="640080" y="1901952"/>
            <a:ext cx="3429000" cy="1874519"/>
          </a:xfrm>
          <a:prstGeom prst="round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901952"/>
            <a:ext cx="64008" cy="1874519"/>
          </a:xfrm>
          <a:prstGeom prst="rect">
            <a:avLst/>
          </a:prstGeom>
          <a:solidFill>
            <a:srgbClr val="1EB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130552"/>
            <a:ext cx="2944368" cy="347472"/>
          </a:xfrm>
          <a:prstGeom prst="rect">
            <a:avLst/>
          </a:prstGeom>
          <a:noFill/>
        </p:spPr>
        <p:txBody>
          <a:bodyPr wrap="square" lIns="0" rIns="0" tIns="0" bIns="0" anchor="t">
            <a:normAutofit/>
          </a:bodyPr>
          <a:lstStyle/>
          <a:p>
            <a:pPr algn="l"/>
            <a:r>
              <a:rPr sz="1450" b="1">
                <a:solidFill>
                  <a:srgbClr val="F8FBFC"/>
                </a:solidFill>
                <a:latin typeface="Aptos"/>
              </a:rPr>
              <a:t>Who is affected</a:t>
            </a:r>
          </a:p>
        </p:txBody>
      </p:sp>
      <p:sp>
        <p:nvSpPr>
          <p:cNvPr id="9" name="TextBox 8"/>
          <p:cNvSpPr txBox="1"/>
          <p:nvPr/>
        </p:nvSpPr>
        <p:spPr>
          <a:xfrm>
            <a:off x="896112" y="2615184"/>
            <a:ext cx="2926080" cy="1005839"/>
          </a:xfrm>
          <a:prstGeom prst="rect">
            <a:avLst/>
          </a:prstGeom>
          <a:noFill/>
        </p:spPr>
        <p:txBody>
          <a:bodyPr wrap="square" lIns="0" rIns="0" tIns="0" bIns="0" anchor="t">
            <a:normAutofit/>
          </a:bodyPr>
          <a:lstStyle/>
          <a:p>
            <a:pPr algn="l"/>
            <a:r>
              <a:rPr sz="1120" b="0">
                <a:solidFill>
                  <a:srgbClr val="AEC1CD"/>
                </a:solidFill>
                <a:latin typeface="Aptos"/>
              </a:rPr>
              <a:t>Donors who want local impact
Small local NGOs
Families who need support</a:t>
            </a:r>
          </a:p>
        </p:txBody>
      </p:sp>
      <p:sp>
        <p:nvSpPr>
          <p:cNvPr id="10" name="Rounded Rectangle 9"/>
          <p:cNvSpPr/>
          <p:nvPr/>
        </p:nvSpPr>
        <p:spPr>
          <a:xfrm>
            <a:off x="4370832" y="1901952"/>
            <a:ext cx="3429000" cy="1874519"/>
          </a:xfrm>
          <a:prstGeom prst="round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0832" y="1901952"/>
            <a:ext cx="64008" cy="1874519"/>
          </a:xfrm>
          <a:prstGeom prst="rect">
            <a:avLst/>
          </a:prstGeom>
          <a:solidFill>
            <a:srgbClr val="F570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130552"/>
            <a:ext cx="2944368" cy="347472"/>
          </a:xfrm>
          <a:prstGeom prst="rect">
            <a:avLst/>
          </a:prstGeom>
          <a:noFill/>
        </p:spPr>
        <p:txBody>
          <a:bodyPr wrap="square" lIns="0" rIns="0" tIns="0" bIns="0" anchor="t">
            <a:normAutofit/>
          </a:bodyPr>
          <a:lstStyle/>
          <a:p>
            <a:pPr algn="l"/>
            <a:r>
              <a:rPr sz="1450" b="1">
                <a:solidFill>
                  <a:srgbClr val="F8FBFC"/>
                </a:solidFill>
                <a:latin typeface="Aptos"/>
              </a:rPr>
              <a:t>The friction</a:t>
            </a:r>
          </a:p>
        </p:txBody>
      </p:sp>
      <p:sp>
        <p:nvSpPr>
          <p:cNvPr id="13" name="TextBox 12"/>
          <p:cNvSpPr txBox="1"/>
          <p:nvPr/>
        </p:nvSpPr>
        <p:spPr>
          <a:xfrm>
            <a:off x="4626864" y="2615184"/>
            <a:ext cx="2926080" cy="1005839"/>
          </a:xfrm>
          <a:prstGeom prst="rect">
            <a:avLst/>
          </a:prstGeom>
          <a:noFill/>
        </p:spPr>
        <p:txBody>
          <a:bodyPr wrap="square" lIns="0" rIns="0" tIns="0" bIns="0" anchor="t">
            <a:normAutofit/>
          </a:bodyPr>
          <a:lstStyle/>
          <a:p>
            <a:pPr algn="l"/>
            <a:r>
              <a:rPr sz="1120" b="0">
                <a:solidFill>
                  <a:srgbClr val="AEC1CD"/>
                </a:solidFill>
                <a:latin typeface="Aptos"/>
              </a:rPr>
              <a:t>No update after payment
Hard to tell genuine NGOs
Proof is generic or missing</a:t>
            </a:r>
          </a:p>
        </p:txBody>
      </p:sp>
      <p:sp>
        <p:nvSpPr>
          <p:cNvPr id="14" name="Rounded Rectangle 13"/>
          <p:cNvSpPr/>
          <p:nvPr/>
        </p:nvSpPr>
        <p:spPr>
          <a:xfrm>
            <a:off x="8101583" y="1901952"/>
            <a:ext cx="3429000" cy="1874519"/>
          </a:xfrm>
          <a:prstGeom prst="round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1583" y="1901952"/>
            <a:ext cx="64008" cy="1874519"/>
          </a:xfrm>
          <a:prstGeom prst="rect">
            <a:avLst/>
          </a:prstGeom>
          <a:solidFill>
            <a:srgbClr val="F4B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7615" y="2130552"/>
            <a:ext cx="2944368" cy="347472"/>
          </a:xfrm>
          <a:prstGeom prst="rect">
            <a:avLst/>
          </a:prstGeom>
          <a:noFill/>
        </p:spPr>
        <p:txBody>
          <a:bodyPr wrap="square" lIns="0" rIns="0" tIns="0" bIns="0" anchor="t">
            <a:normAutofit/>
          </a:bodyPr>
          <a:lstStyle/>
          <a:p>
            <a:pPr algn="l"/>
            <a:r>
              <a:rPr sz="1450" b="1">
                <a:solidFill>
                  <a:srgbClr val="F8FBFC"/>
                </a:solidFill>
                <a:latin typeface="Aptos"/>
              </a:rPr>
              <a:t>The central question</a:t>
            </a:r>
          </a:p>
        </p:txBody>
      </p:sp>
      <p:sp>
        <p:nvSpPr>
          <p:cNvPr id="17" name="TextBox 16"/>
          <p:cNvSpPr txBox="1"/>
          <p:nvPr/>
        </p:nvSpPr>
        <p:spPr>
          <a:xfrm>
            <a:off x="8357615" y="2615184"/>
            <a:ext cx="2926080" cy="1005839"/>
          </a:xfrm>
          <a:prstGeom prst="rect">
            <a:avLst/>
          </a:prstGeom>
          <a:noFill/>
        </p:spPr>
        <p:txBody>
          <a:bodyPr wrap="square" lIns="0" rIns="0" tIns="0" bIns="0" anchor="t">
            <a:normAutofit/>
          </a:bodyPr>
          <a:lstStyle/>
          <a:p>
            <a:pPr algn="l"/>
            <a:r>
              <a:rPr sz="1120" b="0">
                <a:solidFill>
                  <a:srgbClr val="AEC1CD"/>
                </a:solidFill>
                <a:latin typeface="Aptos"/>
              </a:rPr>
              <a:t>How can a donor see exactly what their gift did?</a:t>
            </a:r>
          </a:p>
        </p:txBody>
      </p:sp>
      <p:sp>
        <p:nvSpPr>
          <p:cNvPr id="18" name="Rounded Rectangle 17"/>
          <p:cNvSpPr/>
          <p:nvPr/>
        </p:nvSpPr>
        <p:spPr>
          <a:xfrm>
            <a:off x="658368" y="4315968"/>
            <a:ext cx="1581912" cy="82296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4480560"/>
            <a:ext cx="310896" cy="182880"/>
          </a:xfrm>
          <a:prstGeom prst="rect">
            <a:avLst/>
          </a:prstGeom>
          <a:noFill/>
        </p:spPr>
        <p:txBody>
          <a:bodyPr wrap="square" lIns="0" rIns="0" tIns="0" bIns="0" anchor="t">
            <a:normAutofit/>
          </a:bodyPr>
          <a:lstStyle/>
          <a:p>
            <a:pPr algn="l"/>
            <a:r>
              <a:rPr sz="850" b="1">
                <a:solidFill>
                  <a:srgbClr val="1EBEA0"/>
                </a:solidFill>
                <a:latin typeface="Aptos"/>
              </a:rPr>
              <a:t>01</a:t>
            </a:r>
          </a:p>
        </p:txBody>
      </p:sp>
      <p:sp>
        <p:nvSpPr>
          <p:cNvPr id="20" name="TextBox 19"/>
          <p:cNvSpPr txBox="1"/>
          <p:nvPr/>
        </p:nvSpPr>
        <p:spPr>
          <a:xfrm>
            <a:off x="768096" y="4718304"/>
            <a:ext cx="1344168" cy="228600"/>
          </a:xfrm>
          <a:prstGeom prst="rect">
            <a:avLst/>
          </a:prstGeom>
          <a:noFill/>
        </p:spPr>
        <p:txBody>
          <a:bodyPr wrap="square" lIns="0" rIns="0" tIns="0" bIns="0" anchor="t">
            <a:normAutofit/>
          </a:bodyPr>
          <a:lstStyle/>
          <a:p>
            <a:pPr algn="l"/>
            <a:r>
              <a:rPr sz="1019" b="1">
                <a:solidFill>
                  <a:srgbClr val="F8FBFC"/>
                </a:solidFill>
                <a:latin typeface="Aptos"/>
              </a:rPr>
              <a:t>Donor gives</a:t>
            </a:r>
          </a:p>
        </p:txBody>
      </p:sp>
      <p:cxnSp>
        <p:nvCxnSpPr>
          <p:cNvPr id="21" name="Connector 20"/>
          <p:cNvCxnSpPr/>
          <p:nvPr/>
        </p:nvCxnSpPr>
        <p:spPr>
          <a:xfrm>
            <a:off x="2267712" y="4718304"/>
            <a:ext cx="210312" cy="0"/>
          </a:xfrm>
          <a:prstGeom prst="line">
            <a:avLst/>
          </a:prstGeom>
          <a:ln w="19050">
            <a:solidFill>
              <a:srgbClr val="AEC1C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551176" y="4315968"/>
            <a:ext cx="1581912" cy="82296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60904" y="4480560"/>
            <a:ext cx="310896" cy="182880"/>
          </a:xfrm>
          <a:prstGeom prst="rect">
            <a:avLst/>
          </a:prstGeom>
          <a:noFill/>
        </p:spPr>
        <p:txBody>
          <a:bodyPr wrap="square" lIns="0" rIns="0" tIns="0" bIns="0" anchor="t">
            <a:normAutofit/>
          </a:bodyPr>
          <a:lstStyle/>
          <a:p>
            <a:pPr algn="l"/>
            <a:r>
              <a:rPr sz="850" b="1">
                <a:solidFill>
                  <a:srgbClr val="1EBEA0"/>
                </a:solidFill>
                <a:latin typeface="Aptos"/>
              </a:rPr>
              <a:t>02</a:t>
            </a:r>
          </a:p>
        </p:txBody>
      </p:sp>
      <p:sp>
        <p:nvSpPr>
          <p:cNvPr id="24" name="TextBox 23"/>
          <p:cNvSpPr txBox="1"/>
          <p:nvPr/>
        </p:nvSpPr>
        <p:spPr>
          <a:xfrm>
            <a:off x="2660904" y="4718304"/>
            <a:ext cx="1344168" cy="228600"/>
          </a:xfrm>
          <a:prstGeom prst="rect">
            <a:avLst/>
          </a:prstGeom>
          <a:noFill/>
        </p:spPr>
        <p:txBody>
          <a:bodyPr wrap="square" lIns="0" rIns="0" tIns="0" bIns="0" anchor="t">
            <a:normAutofit/>
          </a:bodyPr>
          <a:lstStyle/>
          <a:p>
            <a:pPr algn="l"/>
            <a:r>
              <a:rPr sz="1019" b="1">
                <a:solidFill>
                  <a:srgbClr val="F8FBFC"/>
                </a:solidFill>
                <a:latin typeface="Aptos"/>
              </a:rPr>
              <a:t>Payment made</a:t>
            </a:r>
          </a:p>
        </p:txBody>
      </p:sp>
      <p:cxnSp>
        <p:nvCxnSpPr>
          <p:cNvPr id="25" name="Connector 24"/>
          <p:cNvCxnSpPr/>
          <p:nvPr/>
        </p:nvCxnSpPr>
        <p:spPr>
          <a:xfrm>
            <a:off x="4160520" y="4718304"/>
            <a:ext cx="210312" cy="0"/>
          </a:xfrm>
          <a:prstGeom prst="line">
            <a:avLst/>
          </a:prstGeom>
          <a:ln w="19050">
            <a:solidFill>
              <a:srgbClr val="AEC1CD"/>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443983" y="4315968"/>
            <a:ext cx="1581912" cy="82296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53712" y="4480560"/>
            <a:ext cx="310896" cy="182880"/>
          </a:xfrm>
          <a:prstGeom prst="rect">
            <a:avLst/>
          </a:prstGeom>
          <a:noFill/>
        </p:spPr>
        <p:txBody>
          <a:bodyPr wrap="square" lIns="0" rIns="0" tIns="0" bIns="0" anchor="t">
            <a:normAutofit/>
          </a:bodyPr>
          <a:lstStyle/>
          <a:p>
            <a:pPr algn="l"/>
            <a:r>
              <a:rPr sz="850" b="1">
                <a:solidFill>
                  <a:srgbClr val="1EBEA0"/>
                </a:solidFill>
                <a:latin typeface="Aptos"/>
              </a:rPr>
              <a:t>03</a:t>
            </a:r>
          </a:p>
        </p:txBody>
      </p:sp>
      <p:sp>
        <p:nvSpPr>
          <p:cNvPr id="28" name="TextBox 27"/>
          <p:cNvSpPr txBox="1"/>
          <p:nvPr/>
        </p:nvSpPr>
        <p:spPr>
          <a:xfrm>
            <a:off x="4553712" y="4718304"/>
            <a:ext cx="1344168" cy="228600"/>
          </a:xfrm>
          <a:prstGeom prst="rect">
            <a:avLst/>
          </a:prstGeom>
          <a:noFill/>
        </p:spPr>
        <p:txBody>
          <a:bodyPr wrap="square" lIns="0" rIns="0" tIns="0" bIns="0" anchor="t">
            <a:normAutofit/>
          </a:bodyPr>
          <a:lstStyle/>
          <a:p>
            <a:pPr algn="l"/>
            <a:r>
              <a:rPr sz="1019" b="1">
                <a:solidFill>
                  <a:srgbClr val="F8FBFC"/>
                </a:solidFill>
                <a:latin typeface="Aptos"/>
              </a:rPr>
              <a:t>No update</a:t>
            </a:r>
          </a:p>
        </p:txBody>
      </p:sp>
      <p:cxnSp>
        <p:nvCxnSpPr>
          <p:cNvPr id="29" name="Connector 28"/>
          <p:cNvCxnSpPr/>
          <p:nvPr/>
        </p:nvCxnSpPr>
        <p:spPr>
          <a:xfrm>
            <a:off x="6053327" y="4718304"/>
            <a:ext cx="210313" cy="0"/>
          </a:xfrm>
          <a:prstGeom prst="line">
            <a:avLst/>
          </a:prstGeom>
          <a:ln w="19050">
            <a:solidFill>
              <a:srgbClr val="AEC1CD"/>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336792" y="4315968"/>
            <a:ext cx="1581912" cy="82296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4480560"/>
            <a:ext cx="310896" cy="182880"/>
          </a:xfrm>
          <a:prstGeom prst="rect">
            <a:avLst/>
          </a:prstGeom>
          <a:noFill/>
        </p:spPr>
        <p:txBody>
          <a:bodyPr wrap="square" lIns="0" rIns="0" tIns="0" bIns="0" anchor="t">
            <a:normAutofit/>
          </a:bodyPr>
          <a:lstStyle/>
          <a:p>
            <a:pPr algn="l"/>
            <a:r>
              <a:rPr sz="850" b="1">
                <a:solidFill>
                  <a:srgbClr val="1EBEA0"/>
                </a:solidFill>
                <a:latin typeface="Aptos"/>
              </a:rPr>
              <a:t>04</a:t>
            </a:r>
          </a:p>
        </p:txBody>
      </p:sp>
      <p:sp>
        <p:nvSpPr>
          <p:cNvPr id="32" name="TextBox 31"/>
          <p:cNvSpPr txBox="1"/>
          <p:nvPr/>
        </p:nvSpPr>
        <p:spPr>
          <a:xfrm>
            <a:off x="6446520" y="4718304"/>
            <a:ext cx="1344168" cy="228600"/>
          </a:xfrm>
          <a:prstGeom prst="rect">
            <a:avLst/>
          </a:prstGeom>
          <a:noFill/>
        </p:spPr>
        <p:txBody>
          <a:bodyPr wrap="square" lIns="0" rIns="0" tIns="0" bIns="0" anchor="t">
            <a:normAutofit/>
          </a:bodyPr>
          <a:lstStyle/>
          <a:p>
            <a:pPr algn="l"/>
            <a:r>
              <a:rPr sz="1019" b="1">
                <a:solidFill>
                  <a:srgbClr val="F8FBFC"/>
                </a:solidFill>
                <a:latin typeface="Aptos"/>
              </a:rPr>
              <a:t>Doubt grows</a:t>
            </a:r>
          </a:p>
        </p:txBody>
      </p:sp>
      <p:cxnSp>
        <p:nvCxnSpPr>
          <p:cNvPr id="33" name="Connector 32"/>
          <p:cNvCxnSpPr/>
          <p:nvPr/>
        </p:nvCxnSpPr>
        <p:spPr>
          <a:xfrm>
            <a:off x="7946136" y="4718304"/>
            <a:ext cx="210312" cy="0"/>
          </a:xfrm>
          <a:prstGeom prst="line">
            <a:avLst/>
          </a:prstGeom>
          <a:ln w="19050">
            <a:solidFill>
              <a:srgbClr val="AEC1CD"/>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229600" y="4315968"/>
            <a:ext cx="1581912" cy="82296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39327" y="4480560"/>
            <a:ext cx="310896" cy="182880"/>
          </a:xfrm>
          <a:prstGeom prst="rect">
            <a:avLst/>
          </a:prstGeom>
          <a:noFill/>
        </p:spPr>
        <p:txBody>
          <a:bodyPr wrap="square" lIns="0" rIns="0" tIns="0" bIns="0" anchor="t">
            <a:normAutofit/>
          </a:bodyPr>
          <a:lstStyle/>
          <a:p>
            <a:pPr algn="l"/>
            <a:r>
              <a:rPr sz="850" b="1">
                <a:solidFill>
                  <a:srgbClr val="1EBEA0"/>
                </a:solidFill>
                <a:latin typeface="Aptos"/>
              </a:rPr>
              <a:t>05</a:t>
            </a:r>
          </a:p>
        </p:txBody>
      </p:sp>
      <p:sp>
        <p:nvSpPr>
          <p:cNvPr id="36" name="TextBox 35"/>
          <p:cNvSpPr txBox="1"/>
          <p:nvPr/>
        </p:nvSpPr>
        <p:spPr>
          <a:xfrm>
            <a:off x="8339327" y="4718304"/>
            <a:ext cx="1344168" cy="228600"/>
          </a:xfrm>
          <a:prstGeom prst="rect">
            <a:avLst/>
          </a:prstGeom>
          <a:noFill/>
        </p:spPr>
        <p:txBody>
          <a:bodyPr wrap="square" lIns="0" rIns="0" tIns="0" bIns="0" anchor="t">
            <a:normAutofit/>
          </a:bodyPr>
          <a:lstStyle/>
          <a:p>
            <a:pPr algn="l"/>
            <a:r>
              <a:rPr sz="1019" b="1">
                <a:solidFill>
                  <a:srgbClr val="F8FBFC"/>
                </a:solidFill>
                <a:latin typeface="Aptos"/>
              </a:rPr>
              <a:t>Fewer donations</a:t>
            </a:r>
          </a:p>
        </p:txBody>
      </p:sp>
      <p:cxnSp>
        <p:nvCxnSpPr>
          <p:cNvPr id="37" name="Connector 36"/>
          <p:cNvCxnSpPr/>
          <p:nvPr/>
        </p:nvCxnSpPr>
        <p:spPr>
          <a:xfrm>
            <a:off x="9838944" y="4718304"/>
            <a:ext cx="210312" cy="0"/>
          </a:xfrm>
          <a:prstGeom prst="line">
            <a:avLst/>
          </a:prstGeom>
          <a:ln w="19050">
            <a:solidFill>
              <a:srgbClr val="AEC1CD"/>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10122408" y="4315968"/>
            <a:ext cx="1581912" cy="82296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32136" y="4480560"/>
            <a:ext cx="310896" cy="182880"/>
          </a:xfrm>
          <a:prstGeom prst="rect">
            <a:avLst/>
          </a:prstGeom>
          <a:noFill/>
        </p:spPr>
        <p:txBody>
          <a:bodyPr wrap="square" lIns="0" rIns="0" tIns="0" bIns="0" anchor="t">
            <a:normAutofit/>
          </a:bodyPr>
          <a:lstStyle/>
          <a:p>
            <a:pPr algn="l"/>
            <a:r>
              <a:rPr sz="850" b="1">
                <a:solidFill>
                  <a:srgbClr val="1EBEA0"/>
                </a:solidFill>
                <a:latin typeface="Aptos"/>
              </a:rPr>
              <a:t>06</a:t>
            </a:r>
          </a:p>
        </p:txBody>
      </p:sp>
      <p:sp>
        <p:nvSpPr>
          <p:cNvPr id="40" name="TextBox 39"/>
          <p:cNvSpPr txBox="1"/>
          <p:nvPr/>
        </p:nvSpPr>
        <p:spPr>
          <a:xfrm>
            <a:off x="10232136" y="4718304"/>
            <a:ext cx="1344168" cy="228600"/>
          </a:xfrm>
          <a:prstGeom prst="rect">
            <a:avLst/>
          </a:prstGeom>
          <a:noFill/>
        </p:spPr>
        <p:txBody>
          <a:bodyPr wrap="square" lIns="0" rIns="0" tIns="0" bIns="0" anchor="t">
            <a:normAutofit/>
          </a:bodyPr>
          <a:lstStyle/>
          <a:p>
            <a:pPr algn="l"/>
            <a:r>
              <a:rPr sz="1019" b="1">
                <a:solidFill>
                  <a:srgbClr val="F8FBFC"/>
                </a:solidFill>
                <a:latin typeface="Aptos"/>
              </a:rPr>
              <a:t>NGOs lose support</a:t>
            </a:r>
          </a:p>
        </p:txBody>
      </p:sp>
      <p:sp>
        <p:nvSpPr>
          <p:cNvPr id="41" name="TextBox 40"/>
          <p:cNvSpPr txBox="1"/>
          <p:nvPr/>
        </p:nvSpPr>
        <p:spPr>
          <a:xfrm>
            <a:off x="640080" y="6547104"/>
            <a:ext cx="4572000" cy="182880"/>
          </a:xfrm>
          <a:prstGeom prst="rect">
            <a:avLst/>
          </a:prstGeom>
          <a:noFill/>
        </p:spPr>
        <p:txBody>
          <a:bodyPr wrap="square" lIns="0" rIns="0" tIns="0" bIns="0" anchor="t">
            <a:normAutofit/>
          </a:bodyPr>
          <a:lstStyle/>
          <a:p>
            <a:pPr algn="l"/>
            <a:r>
              <a:rPr sz="850" b="1">
                <a:solidFill>
                  <a:srgbClr val="5D7989"/>
                </a:solidFill>
                <a:latin typeface="Aptos"/>
              </a:rPr>
              <a:t>DONATECONNECT  •  HACKFORGE IDEATHON</a:t>
            </a:r>
          </a:p>
        </p:txBody>
      </p:sp>
      <p:sp>
        <p:nvSpPr>
          <p:cNvPr id="42" name="TextBox 41"/>
          <p:cNvSpPr txBox="1"/>
          <p:nvPr/>
        </p:nvSpPr>
        <p:spPr>
          <a:xfrm>
            <a:off x="10972800" y="6519672"/>
            <a:ext cx="502920" cy="201168"/>
          </a:xfrm>
          <a:prstGeom prst="rect">
            <a:avLst/>
          </a:prstGeom>
          <a:noFill/>
        </p:spPr>
        <p:txBody>
          <a:bodyPr wrap="square" lIns="0" rIns="0" tIns="0" bIns="0" anchor="t">
            <a:normAutofit/>
          </a:bodyPr>
          <a:lstStyle/>
          <a:p>
            <a:pPr algn="r"/>
            <a:r>
              <a:rPr sz="900" b="1">
                <a:solidFill>
                  <a:srgbClr val="5D7989"/>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3474720" cy="256032"/>
          </a:xfrm>
          <a:prstGeom prst="rect">
            <a:avLst/>
          </a:prstGeom>
          <a:noFill/>
        </p:spPr>
        <p:txBody>
          <a:bodyPr wrap="square" lIns="0" rIns="0" tIns="0" bIns="0" anchor="t">
            <a:normAutofit/>
          </a:bodyPr>
          <a:lstStyle/>
          <a:p>
            <a:pPr algn="l"/>
            <a:r>
              <a:rPr sz="1000" b="1">
                <a:solidFill>
                  <a:srgbClr val="13806F"/>
                </a:solidFill>
                <a:latin typeface="Aptos"/>
              </a:rPr>
              <a:t>02 • THE GAP</a:t>
            </a:r>
          </a:p>
        </p:txBody>
      </p:sp>
      <p:sp>
        <p:nvSpPr>
          <p:cNvPr id="4" name="TextBox 3"/>
          <p:cNvSpPr txBox="1"/>
          <p:nvPr/>
        </p:nvSpPr>
        <p:spPr>
          <a:xfrm>
            <a:off x="640080" y="713232"/>
            <a:ext cx="10789920" cy="566928"/>
          </a:xfrm>
          <a:prstGeom prst="rect">
            <a:avLst/>
          </a:prstGeom>
          <a:noFill/>
        </p:spPr>
        <p:txBody>
          <a:bodyPr wrap="square" lIns="0" rIns="0" tIns="0" bIns="0" anchor="t">
            <a:normAutofit/>
          </a:bodyPr>
          <a:lstStyle/>
          <a:p>
            <a:pPr algn="l"/>
            <a:r>
              <a:rPr sz="2700" b="1">
                <a:solidFill>
                  <a:srgbClr val="142632"/>
                </a:solidFill>
                <a:latin typeface="Aptos"/>
              </a:rPr>
              <a:t>Existing options solve pieces — not the full journey.</a:t>
            </a:r>
          </a:p>
        </p:txBody>
      </p:sp>
      <p:sp>
        <p:nvSpPr>
          <p:cNvPr id="5" name="TextBox 4"/>
          <p:cNvSpPr txBox="1"/>
          <p:nvPr/>
        </p:nvSpPr>
        <p:spPr>
          <a:xfrm>
            <a:off x="640080" y="1307592"/>
            <a:ext cx="10515600" cy="384048"/>
          </a:xfrm>
          <a:prstGeom prst="rect">
            <a:avLst/>
          </a:prstGeom>
          <a:noFill/>
        </p:spPr>
        <p:txBody>
          <a:bodyPr wrap="square" lIns="0" rIns="0" tIns="0" bIns="0" anchor="t">
            <a:normAutofit/>
          </a:bodyPr>
          <a:lstStyle/>
          <a:p>
            <a:pPr algn="l"/>
            <a:r>
              <a:rPr sz="1250" b="0">
                <a:solidFill>
                  <a:srgbClr val="5C707E"/>
                </a:solidFill>
                <a:latin typeface="Aptos"/>
              </a:rPr>
              <a:t>The missing layer is donor-level traceability.</a:t>
            </a:r>
          </a:p>
        </p:txBody>
      </p:sp>
      <p:sp>
        <p:nvSpPr>
          <p:cNvPr id="6" name="Rounded Rectangle 5"/>
          <p:cNvSpPr/>
          <p:nvPr/>
        </p:nvSpPr>
        <p:spPr>
          <a:xfrm>
            <a:off x="640080" y="1965960"/>
            <a:ext cx="2331720" cy="2423160"/>
          </a:xfrm>
          <a:prstGeom prst="roundRect">
            <a:avLst/>
          </a:prstGeom>
          <a:solidFill>
            <a:srgbClr val="F8FBFC"/>
          </a:solidFill>
          <a:ln w="1270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965960"/>
            <a:ext cx="2331720" cy="73152"/>
          </a:xfrm>
          <a:prstGeom prst="rect">
            <a:avLst/>
          </a:prstGeom>
          <a:solidFill>
            <a:srgbClr val="138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267712"/>
            <a:ext cx="1965960" cy="292608"/>
          </a:xfrm>
          <a:prstGeom prst="rect">
            <a:avLst/>
          </a:prstGeom>
          <a:noFill/>
        </p:spPr>
        <p:txBody>
          <a:bodyPr wrap="square" lIns="0" rIns="0" tIns="0" bIns="0" anchor="t">
            <a:normAutofit/>
          </a:bodyPr>
          <a:lstStyle/>
          <a:p>
            <a:pPr algn="l"/>
            <a:r>
              <a:rPr sz="1100" b="1">
                <a:solidFill>
                  <a:srgbClr val="13806F"/>
                </a:solidFill>
                <a:latin typeface="Aptos"/>
              </a:rPr>
              <a:t>DONATION PLATFORMS</a:t>
            </a:r>
          </a:p>
        </p:txBody>
      </p:sp>
      <p:sp>
        <p:nvSpPr>
          <p:cNvPr id="9" name="TextBox 8"/>
          <p:cNvSpPr txBox="1"/>
          <p:nvPr/>
        </p:nvSpPr>
        <p:spPr>
          <a:xfrm>
            <a:off x="822959" y="2651760"/>
            <a:ext cx="1965960" cy="292608"/>
          </a:xfrm>
          <a:prstGeom prst="rect">
            <a:avLst/>
          </a:prstGeom>
          <a:noFill/>
        </p:spPr>
        <p:txBody>
          <a:bodyPr wrap="square" lIns="0" rIns="0" tIns="0" bIns="0" anchor="t">
            <a:normAutofit/>
          </a:bodyPr>
          <a:lstStyle/>
          <a:p>
            <a:pPr algn="l"/>
            <a:r>
              <a:rPr sz="1400" b="1">
                <a:solidFill>
                  <a:srgbClr val="142632"/>
                </a:solidFill>
                <a:latin typeface="Aptos"/>
              </a:rPr>
              <a:t>Make payment easy</a:t>
            </a:r>
          </a:p>
        </p:txBody>
      </p:sp>
      <p:sp>
        <p:nvSpPr>
          <p:cNvPr id="10" name="TextBox 9"/>
          <p:cNvSpPr txBox="1"/>
          <p:nvPr/>
        </p:nvSpPr>
        <p:spPr>
          <a:xfrm>
            <a:off x="822959" y="3246120"/>
            <a:ext cx="1965960" cy="228600"/>
          </a:xfrm>
          <a:prstGeom prst="rect">
            <a:avLst/>
          </a:prstGeom>
          <a:noFill/>
        </p:spPr>
        <p:txBody>
          <a:bodyPr wrap="square" lIns="0" rIns="0" tIns="0" bIns="0" anchor="t">
            <a:normAutofit/>
          </a:bodyPr>
          <a:lstStyle/>
          <a:p>
            <a:pPr algn="l"/>
            <a:r>
              <a:rPr sz="1050" b="1">
                <a:solidFill>
                  <a:srgbClr val="13806F"/>
                </a:solidFill>
                <a:latin typeface="Aptos"/>
              </a:rPr>
              <a:t>Payment ✓</a:t>
            </a:r>
          </a:p>
        </p:txBody>
      </p:sp>
      <p:sp>
        <p:nvSpPr>
          <p:cNvPr id="11" name="TextBox 10"/>
          <p:cNvSpPr txBox="1"/>
          <p:nvPr/>
        </p:nvSpPr>
        <p:spPr>
          <a:xfrm>
            <a:off x="822959" y="3584448"/>
            <a:ext cx="1965960" cy="411480"/>
          </a:xfrm>
          <a:prstGeom prst="rect">
            <a:avLst/>
          </a:prstGeom>
          <a:noFill/>
        </p:spPr>
        <p:txBody>
          <a:bodyPr wrap="square" lIns="0" rIns="0" tIns="0" bIns="0" anchor="t">
            <a:normAutofit/>
          </a:bodyPr>
          <a:lstStyle/>
          <a:p>
            <a:pPr algn="l"/>
            <a:r>
              <a:rPr sz="1050" b="0">
                <a:solidFill>
                  <a:srgbClr val="5C707E"/>
                </a:solidFill>
                <a:latin typeface="Aptos"/>
              </a:rPr>
              <a:t>No personal outcome trail</a:t>
            </a:r>
          </a:p>
        </p:txBody>
      </p:sp>
      <p:sp>
        <p:nvSpPr>
          <p:cNvPr id="12" name="Rounded Rectangle 11"/>
          <p:cNvSpPr/>
          <p:nvPr/>
        </p:nvSpPr>
        <p:spPr>
          <a:xfrm>
            <a:off x="3493008" y="1965960"/>
            <a:ext cx="2331720" cy="2423160"/>
          </a:xfrm>
          <a:prstGeom prst="roundRect">
            <a:avLst/>
          </a:prstGeom>
          <a:solidFill>
            <a:srgbClr val="F8FBFC"/>
          </a:solidFill>
          <a:ln w="1270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93008" y="1965960"/>
            <a:ext cx="2331720" cy="73152"/>
          </a:xfrm>
          <a:prstGeom prst="rect">
            <a:avLst/>
          </a:prstGeom>
          <a:solidFill>
            <a:srgbClr val="F570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5887" y="2267712"/>
            <a:ext cx="1965960" cy="292608"/>
          </a:xfrm>
          <a:prstGeom prst="rect">
            <a:avLst/>
          </a:prstGeom>
          <a:noFill/>
        </p:spPr>
        <p:txBody>
          <a:bodyPr wrap="square" lIns="0" rIns="0" tIns="0" bIns="0" anchor="t">
            <a:normAutofit/>
          </a:bodyPr>
          <a:lstStyle/>
          <a:p>
            <a:pPr algn="l"/>
            <a:r>
              <a:rPr sz="1100" b="1">
                <a:solidFill>
                  <a:srgbClr val="F5705B"/>
                </a:solidFill>
                <a:latin typeface="Aptos"/>
              </a:rPr>
              <a:t>NGO WEBSITES</a:t>
            </a:r>
          </a:p>
        </p:txBody>
      </p:sp>
      <p:sp>
        <p:nvSpPr>
          <p:cNvPr id="15" name="TextBox 14"/>
          <p:cNvSpPr txBox="1"/>
          <p:nvPr/>
        </p:nvSpPr>
        <p:spPr>
          <a:xfrm>
            <a:off x="3675887" y="2651760"/>
            <a:ext cx="1965960" cy="292608"/>
          </a:xfrm>
          <a:prstGeom prst="rect">
            <a:avLst/>
          </a:prstGeom>
          <a:noFill/>
        </p:spPr>
        <p:txBody>
          <a:bodyPr wrap="square" lIns="0" rIns="0" tIns="0" bIns="0" anchor="t">
            <a:normAutofit/>
          </a:bodyPr>
          <a:lstStyle/>
          <a:p>
            <a:pPr algn="l"/>
            <a:r>
              <a:rPr sz="1400" b="1">
                <a:solidFill>
                  <a:srgbClr val="142632"/>
                </a:solidFill>
                <a:latin typeface="Aptos"/>
              </a:rPr>
              <a:t>Share reports</a:t>
            </a:r>
          </a:p>
        </p:txBody>
      </p:sp>
      <p:sp>
        <p:nvSpPr>
          <p:cNvPr id="16" name="TextBox 15"/>
          <p:cNvSpPr txBox="1"/>
          <p:nvPr/>
        </p:nvSpPr>
        <p:spPr>
          <a:xfrm>
            <a:off x="3675887" y="3246120"/>
            <a:ext cx="1965960" cy="228600"/>
          </a:xfrm>
          <a:prstGeom prst="rect">
            <a:avLst/>
          </a:prstGeom>
          <a:noFill/>
        </p:spPr>
        <p:txBody>
          <a:bodyPr wrap="square" lIns="0" rIns="0" tIns="0" bIns="0" anchor="t">
            <a:normAutofit/>
          </a:bodyPr>
          <a:lstStyle/>
          <a:p>
            <a:pPr algn="l"/>
            <a:r>
              <a:rPr sz="1050" b="1">
                <a:solidFill>
                  <a:srgbClr val="13806F"/>
                </a:solidFill>
                <a:latin typeface="Aptos"/>
              </a:rPr>
              <a:t>Reports ✓</a:t>
            </a:r>
          </a:p>
        </p:txBody>
      </p:sp>
      <p:sp>
        <p:nvSpPr>
          <p:cNvPr id="17" name="TextBox 16"/>
          <p:cNvSpPr txBox="1"/>
          <p:nvPr/>
        </p:nvSpPr>
        <p:spPr>
          <a:xfrm>
            <a:off x="3675887" y="3584448"/>
            <a:ext cx="1965960" cy="411480"/>
          </a:xfrm>
          <a:prstGeom prst="rect">
            <a:avLst/>
          </a:prstGeom>
          <a:noFill/>
        </p:spPr>
        <p:txBody>
          <a:bodyPr wrap="square" lIns="0" rIns="0" tIns="0" bIns="0" anchor="t">
            <a:normAutofit/>
          </a:bodyPr>
          <a:lstStyle/>
          <a:p>
            <a:pPr algn="l"/>
            <a:r>
              <a:rPr sz="1050" b="0">
                <a:solidFill>
                  <a:srgbClr val="5C707E"/>
                </a:solidFill>
                <a:latin typeface="Aptos"/>
              </a:rPr>
              <a:t>Donor's specific gift?</a:t>
            </a:r>
          </a:p>
        </p:txBody>
      </p:sp>
      <p:sp>
        <p:nvSpPr>
          <p:cNvPr id="18" name="Rounded Rectangle 17"/>
          <p:cNvSpPr/>
          <p:nvPr/>
        </p:nvSpPr>
        <p:spPr>
          <a:xfrm>
            <a:off x="6345936" y="1965960"/>
            <a:ext cx="2331720" cy="2423160"/>
          </a:xfrm>
          <a:prstGeom prst="roundRect">
            <a:avLst/>
          </a:prstGeom>
          <a:solidFill>
            <a:srgbClr val="F8FBFC"/>
          </a:solidFill>
          <a:ln w="1270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45936" y="1965960"/>
            <a:ext cx="2331720" cy="73152"/>
          </a:xfrm>
          <a:prstGeom prst="rect">
            <a:avLst/>
          </a:prstGeom>
          <a:solidFill>
            <a:srgbClr val="F4B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28816" y="2267712"/>
            <a:ext cx="1965960" cy="292608"/>
          </a:xfrm>
          <a:prstGeom prst="rect">
            <a:avLst/>
          </a:prstGeom>
          <a:noFill/>
        </p:spPr>
        <p:txBody>
          <a:bodyPr wrap="square" lIns="0" rIns="0" tIns="0" bIns="0" anchor="t">
            <a:normAutofit/>
          </a:bodyPr>
          <a:lstStyle/>
          <a:p>
            <a:pPr algn="l"/>
            <a:r>
              <a:rPr sz="1100" b="1">
                <a:solidFill>
                  <a:srgbClr val="F4B74C"/>
                </a:solidFill>
                <a:latin typeface="Aptos"/>
              </a:rPr>
              <a:t>SOCIAL MEDIA</a:t>
            </a:r>
          </a:p>
        </p:txBody>
      </p:sp>
      <p:sp>
        <p:nvSpPr>
          <p:cNvPr id="21" name="TextBox 20"/>
          <p:cNvSpPr txBox="1"/>
          <p:nvPr/>
        </p:nvSpPr>
        <p:spPr>
          <a:xfrm>
            <a:off x="6528816" y="2651760"/>
            <a:ext cx="1965960" cy="292608"/>
          </a:xfrm>
          <a:prstGeom prst="rect">
            <a:avLst/>
          </a:prstGeom>
          <a:noFill/>
        </p:spPr>
        <p:txBody>
          <a:bodyPr wrap="square" lIns="0" rIns="0" tIns="0" bIns="0" anchor="t">
            <a:normAutofit/>
          </a:bodyPr>
          <a:lstStyle/>
          <a:p>
            <a:pPr algn="l"/>
            <a:r>
              <a:rPr sz="1400" b="1">
                <a:solidFill>
                  <a:srgbClr val="142632"/>
                </a:solidFill>
                <a:latin typeface="Aptos"/>
              </a:rPr>
              <a:t>Spread appeals quickly</a:t>
            </a:r>
          </a:p>
        </p:txBody>
      </p:sp>
      <p:sp>
        <p:nvSpPr>
          <p:cNvPr id="22" name="TextBox 21"/>
          <p:cNvSpPr txBox="1"/>
          <p:nvPr/>
        </p:nvSpPr>
        <p:spPr>
          <a:xfrm>
            <a:off x="6528816" y="3246120"/>
            <a:ext cx="1965960" cy="228600"/>
          </a:xfrm>
          <a:prstGeom prst="rect">
            <a:avLst/>
          </a:prstGeom>
          <a:noFill/>
        </p:spPr>
        <p:txBody>
          <a:bodyPr wrap="square" lIns="0" rIns="0" tIns="0" bIns="0" anchor="t">
            <a:normAutofit/>
          </a:bodyPr>
          <a:lstStyle/>
          <a:p>
            <a:pPr algn="l"/>
            <a:r>
              <a:rPr sz="1050" b="1">
                <a:solidFill>
                  <a:srgbClr val="13806F"/>
                </a:solidFill>
                <a:latin typeface="Aptos"/>
              </a:rPr>
              <a:t>Reach ✓</a:t>
            </a:r>
          </a:p>
        </p:txBody>
      </p:sp>
      <p:sp>
        <p:nvSpPr>
          <p:cNvPr id="23" name="TextBox 22"/>
          <p:cNvSpPr txBox="1"/>
          <p:nvPr/>
        </p:nvSpPr>
        <p:spPr>
          <a:xfrm>
            <a:off x="6528816" y="3584448"/>
            <a:ext cx="1965960" cy="411480"/>
          </a:xfrm>
          <a:prstGeom prst="rect">
            <a:avLst/>
          </a:prstGeom>
          <a:noFill/>
        </p:spPr>
        <p:txBody>
          <a:bodyPr wrap="square" lIns="0" rIns="0" tIns="0" bIns="0" anchor="t">
            <a:normAutofit/>
          </a:bodyPr>
          <a:lstStyle/>
          <a:p>
            <a:pPr algn="l"/>
            <a:r>
              <a:rPr sz="1050" b="0">
                <a:solidFill>
                  <a:srgbClr val="5C707E"/>
                </a:solidFill>
                <a:latin typeface="Aptos"/>
              </a:rPr>
              <a:t>No verified delivery proof</a:t>
            </a:r>
          </a:p>
        </p:txBody>
      </p:sp>
      <p:sp>
        <p:nvSpPr>
          <p:cNvPr id="24" name="Rounded Rectangle 23"/>
          <p:cNvSpPr/>
          <p:nvPr/>
        </p:nvSpPr>
        <p:spPr>
          <a:xfrm>
            <a:off x="9198864" y="1965960"/>
            <a:ext cx="2331720" cy="2423160"/>
          </a:xfrm>
          <a:prstGeom prst="roundRect">
            <a:avLst/>
          </a:prstGeom>
          <a:solidFill>
            <a:srgbClr val="F8FBFC"/>
          </a:solidFill>
          <a:ln w="1270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98864" y="1965960"/>
            <a:ext cx="2331720" cy="73152"/>
          </a:xfrm>
          <a:prstGeom prst="rect">
            <a:avLst/>
          </a:prstGeom>
          <a:solidFill>
            <a:srgbClr val="138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81744" y="2267712"/>
            <a:ext cx="1965960" cy="292608"/>
          </a:xfrm>
          <a:prstGeom prst="rect">
            <a:avLst/>
          </a:prstGeom>
          <a:noFill/>
        </p:spPr>
        <p:txBody>
          <a:bodyPr wrap="square" lIns="0" rIns="0" tIns="0" bIns="0" anchor="t">
            <a:normAutofit/>
          </a:bodyPr>
          <a:lstStyle/>
          <a:p>
            <a:pPr algn="l"/>
            <a:r>
              <a:rPr sz="1100" b="1">
                <a:solidFill>
                  <a:srgbClr val="13806F"/>
                </a:solidFill>
                <a:latin typeface="Aptos"/>
              </a:rPr>
              <a:t>CHARITY LISTINGS</a:t>
            </a:r>
          </a:p>
        </p:txBody>
      </p:sp>
      <p:sp>
        <p:nvSpPr>
          <p:cNvPr id="27" name="TextBox 26"/>
          <p:cNvSpPr txBox="1"/>
          <p:nvPr/>
        </p:nvSpPr>
        <p:spPr>
          <a:xfrm>
            <a:off x="9381744" y="2651760"/>
            <a:ext cx="1965960" cy="292608"/>
          </a:xfrm>
          <a:prstGeom prst="rect">
            <a:avLst/>
          </a:prstGeom>
          <a:noFill/>
        </p:spPr>
        <p:txBody>
          <a:bodyPr wrap="square" lIns="0" rIns="0" tIns="0" bIns="0" anchor="t">
            <a:normAutofit/>
          </a:bodyPr>
          <a:lstStyle/>
          <a:p>
            <a:pPr algn="l"/>
            <a:r>
              <a:rPr sz="1400" b="1">
                <a:solidFill>
                  <a:srgbClr val="142632"/>
                </a:solidFill>
                <a:latin typeface="Aptos"/>
              </a:rPr>
              <a:t>Describe organisations</a:t>
            </a:r>
          </a:p>
        </p:txBody>
      </p:sp>
      <p:sp>
        <p:nvSpPr>
          <p:cNvPr id="28" name="TextBox 27"/>
          <p:cNvSpPr txBox="1"/>
          <p:nvPr/>
        </p:nvSpPr>
        <p:spPr>
          <a:xfrm>
            <a:off x="9381744" y="3246120"/>
            <a:ext cx="1965960" cy="228600"/>
          </a:xfrm>
          <a:prstGeom prst="rect">
            <a:avLst/>
          </a:prstGeom>
          <a:noFill/>
        </p:spPr>
        <p:txBody>
          <a:bodyPr wrap="square" lIns="0" rIns="0" tIns="0" bIns="0" anchor="t">
            <a:normAutofit/>
          </a:bodyPr>
          <a:lstStyle/>
          <a:p>
            <a:pPr algn="l"/>
            <a:r>
              <a:rPr sz="1050" b="1">
                <a:solidFill>
                  <a:srgbClr val="13806F"/>
                </a:solidFill>
                <a:latin typeface="Aptos"/>
              </a:rPr>
              <a:t>Discovery ✓</a:t>
            </a:r>
          </a:p>
        </p:txBody>
      </p:sp>
      <p:sp>
        <p:nvSpPr>
          <p:cNvPr id="29" name="TextBox 28"/>
          <p:cNvSpPr txBox="1"/>
          <p:nvPr/>
        </p:nvSpPr>
        <p:spPr>
          <a:xfrm>
            <a:off x="9381744" y="3584448"/>
            <a:ext cx="1965960" cy="411480"/>
          </a:xfrm>
          <a:prstGeom prst="rect">
            <a:avLst/>
          </a:prstGeom>
          <a:noFill/>
        </p:spPr>
        <p:txBody>
          <a:bodyPr wrap="square" lIns="0" rIns="0" tIns="0" bIns="0" anchor="t">
            <a:normAutofit/>
          </a:bodyPr>
          <a:lstStyle/>
          <a:p>
            <a:pPr algn="l"/>
            <a:r>
              <a:rPr sz="1050" b="0">
                <a:solidFill>
                  <a:srgbClr val="5C707E"/>
                </a:solidFill>
                <a:latin typeface="Aptos"/>
              </a:rPr>
              <a:t>No gift-to-result link</a:t>
            </a:r>
          </a:p>
        </p:txBody>
      </p:sp>
      <p:sp>
        <p:nvSpPr>
          <p:cNvPr id="30" name="Rounded Rectangle 29"/>
          <p:cNvSpPr/>
          <p:nvPr/>
        </p:nvSpPr>
        <p:spPr>
          <a:xfrm>
            <a:off x="640080" y="4800600"/>
            <a:ext cx="10890504" cy="960120"/>
          </a:xfrm>
          <a:prstGeom prst="roundRect">
            <a:avLst/>
          </a:prstGeom>
          <a:solidFill>
            <a:srgbClr val="09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065776"/>
            <a:ext cx="914400" cy="228600"/>
          </a:xfrm>
          <a:prstGeom prst="rect">
            <a:avLst/>
          </a:prstGeom>
          <a:noFill/>
        </p:spPr>
        <p:txBody>
          <a:bodyPr wrap="square" lIns="0" rIns="0" tIns="0" bIns="0" anchor="t">
            <a:normAutofit/>
          </a:bodyPr>
          <a:lstStyle/>
          <a:p>
            <a:pPr algn="l"/>
            <a:r>
              <a:rPr sz="950" b="1">
                <a:solidFill>
                  <a:srgbClr val="1EBEA0"/>
                </a:solidFill>
                <a:latin typeface="Aptos"/>
              </a:rPr>
              <a:t>THE GAP</a:t>
            </a:r>
          </a:p>
        </p:txBody>
      </p:sp>
      <p:sp>
        <p:nvSpPr>
          <p:cNvPr id="32" name="TextBox 31"/>
          <p:cNvSpPr txBox="1"/>
          <p:nvPr/>
        </p:nvSpPr>
        <p:spPr>
          <a:xfrm>
            <a:off x="1828800" y="5001768"/>
            <a:ext cx="9235440" cy="347472"/>
          </a:xfrm>
          <a:prstGeom prst="rect">
            <a:avLst/>
          </a:prstGeom>
          <a:noFill/>
        </p:spPr>
        <p:txBody>
          <a:bodyPr wrap="square" lIns="0" rIns="0" tIns="0" bIns="0" anchor="t">
            <a:normAutofit/>
          </a:bodyPr>
          <a:lstStyle/>
          <a:p>
            <a:pPr algn="l"/>
            <a:r>
              <a:rPr sz="1500" b="1">
                <a:solidFill>
                  <a:srgbClr val="F8FBFC"/>
                </a:solidFill>
                <a:latin typeface="Aptos"/>
              </a:rPr>
              <a:t>No single flow connects  donation  →  unique ID  →  delivery proof  →  donor visibility.</a:t>
            </a:r>
          </a:p>
        </p:txBody>
      </p:sp>
      <p:sp>
        <p:nvSpPr>
          <p:cNvPr id="33" name="TextBox 32"/>
          <p:cNvSpPr txBox="1"/>
          <p:nvPr/>
        </p:nvSpPr>
        <p:spPr>
          <a:xfrm>
            <a:off x="640080" y="6547104"/>
            <a:ext cx="4572000" cy="182880"/>
          </a:xfrm>
          <a:prstGeom prst="rect">
            <a:avLst/>
          </a:prstGeom>
          <a:noFill/>
        </p:spPr>
        <p:txBody>
          <a:bodyPr wrap="square" lIns="0" rIns="0" tIns="0" bIns="0" anchor="t">
            <a:normAutofit/>
          </a:bodyPr>
          <a:lstStyle/>
          <a:p>
            <a:pPr algn="l"/>
            <a:r>
              <a:rPr sz="850" b="1">
                <a:solidFill>
                  <a:srgbClr val="80919A"/>
                </a:solidFill>
                <a:latin typeface="Aptos"/>
              </a:rPr>
              <a:t>DONATECONNECT  •  HACKFORGE IDEATHON</a:t>
            </a:r>
          </a:p>
        </p:txBody>
      </p:sp>
      <p:sp>
        <p:nvSpPr>
          <p:cNvPr id="34" name="TextBox 33"/>
          <p:cNvSpPr txBox="1"/>
          <p:nvPr/>
        </p:nvSpPr>
        <p:spPr>
          <a:xfrm>
            <a:off x="10972800" y="6519672"/>
            <a:ext cx="502920" cy="201168"/>
          </a:xfrm>
          <a:prstGeom prst="rect">
            <a:avLst/>
          </a:prstGeom>
          <a:noFill/>
        </p:spPr>
        <p:txBody>
          <a:bodyPr wrap="square" lIns="0" rIns="0" tIns="0" bIns="0" anchor="t">
            <a:normAutofit/>
          </a:bodyPr>
          <a:lstStyle/>
          <a:p>
            <a:pPr algn="r"/>
            <a:r>
              <a:rPr sz="900" b="1">
                <a:solidFill>
                  <a:srgbClr val="80919A"/>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3474720" cy="256032"/>
          </a:xfrm>
          <a:prstGeom prst="rect">
            <a:avLst/>
          </a:prstGeom>
          <a:noFill/>
        </p:spPr>
        <p:txBody>
          <a:bodyPr wrap="square" lIns="0" rIns="0" tIns="0" bIns="0" anchor="t">
            <a:normAutofit/>
          </a:bodyPr>
          <a:lstStyle/>
          <a:p>
            <a:pPr algn="l"/>
            <a:r>
              <a:rPr sz="1000" b="1">
                <a:solidFill>
                  <a:srgbClr val="1EBEA0"/>
                </a:solidFill>
                <a:latin typeface="Aptos"/>
              </a:rPr>
              <a:t>03 • THE SOLUTION</a:t>
            </a:r>
          </a:p>
        </p:txBody>
      </p:sp>
      <p:sp>
        <p:nvSpPr>
          <p:cNvPr id="4" name="TextBox 3"/>
          <p:cNvSpPr txBox="1"/>
          <p:nvPr/>
        </p:nvSpPr>
        <p:spPr>
          <a:xfrm>
            <a:off x="640080" y="713232"/>
            <a:ext cx="10789920" cy="566928"/>
          </a:xfrm>
          <a:prstGeom prst="rect">
            <a:avLst/>
          </a:prstGeom>
          <a:noFill/>
        </p:spPr>
        <p:txBody>
          <a:bodyPr wrap="square" lIns="0" rIns="0" tIns="0" bIns="0" anchor="t">
            <a:normAutofit/>
          </a:bodyPr>
          <a:lstStyle/>
          <a:p>
            <a:pPr algn="l"/>
            <a:r>
              <a:rPr sz="2700" b="1">
                <a:solidFill>
                  <a:srgbClr val="F8FBFC"/>
                </a:solidFill>
                <a:latin typeface="Aptos"/>
              </a:rPr>
              <a:t>DonateConnect turns a payment into a traceable impact story.</a:t>
            </a:r>
          </a:p>
        </p:txBody>
      </p:sp>
      <p:sp>
        <p:nvSpPr>
          <p:cNvPr id="5" name="TextBox 4"/>
          <p:cNvSpPr txBox="1"/>
          <p:nvPr/>
        </p:nvSpPr>
        <p:spPr>
          <a:xfrm>
            <a:off x="640080" y="1307592"/>
            <a:ext cx="10515600" cy="384048"/>
          </a:xfrm>
          <a:prstGeom prst="rect">
            <a:avLst/>
          </a:prstGeom>
          <a:noFill/>
        </p:spPr>
        <p:txBody>
          <a:bodyPr wrap="square" lIns="0" rIns="0" tIns="0" bIns="0" anchor="t">
            <a:normAutofit/>
          </a:bodyPr>
          <a:lstStyle/>
          <a:p>
            <a:pPr algn="l"/>
            <a:r>
              <a:rPr sz="1250" b="0">
                <a:solidFill>
                  <a:srgbClr val="AEC1CD"/>
                </a:solidFill>
                <a:latin typeface="Aptos"/>
              </a:rPr>
              <a:t>The gift stays the goal. We add identity, verification and proof around it.</a:t>
            </a:r>
          </a:p>
        </p:txBody>
      </p:sp>
      <p:sp>
        <p:nvSpPr>
          <p:cNvPr id="6" name="Rounded Rectangle 5"/>
          <p:cNvSpPr/>
          <p:nvPr/>
        </p:nvSpPr>
        <p:spPr>
          <a:xfrm>
            <a:off x="658368" y="1920240"/>
            <a:ext cx="3794760" cy="333756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212848"/>
            <a:ext cx="1097280" cy="228600"/>
          </a:xfrm>
          <a:prstGeom prst="rect">
            <a:avLst/>
          </a:prstGeom>
          <a:noFill/>
        </p:spPr>
        <p:txBody>
          <a:bodyPr wrap="square" lIns="0" rIns="0" tIns="0" bIns="0" anchor="t">
            <a:normAutofit/>
          </a:bodyPr>
          <a:lstStyle/>
          <a:p>
            <a:pPr algn="l"/>
            <a:r>
              <a:rPr sz="950" b="1">
                <a:solidFill>
                  <a:srgbClr val="F5705B"/>
                </a:solidFill>
                <a:latin typeface="Aptos"/>
              </a:rPr>
              <a:t>BEFORE</a:t>
            </a:r>
          </a:p>
        </p:txBody>
      </p:sp>
      <p:sp>
        <p:nvSpPr>
          <p:cNvPr id="8" name="TextBox 7"/>
          <p:cNvSpPr txBox="1"/>
          <p:nvPr/>
        </p:nvSpPr>
        <p:spPr>
          <a:xfrm>
            <a:off x="960120" y="2761488"/>
            <a:ext cx="2926080" cy="914400"/>
          </a:xfrm>
          <a:prstGeom prst="rect">
            <a:avLst/>
          </a:prstGeom>
          <a:noFill/>
        </p:spPr>
        <p:txBody>
          <a:bodyPr wrap="square" lIns="0" rIns="0" tIns="0" bIns="0" anchor="t">
            <a:normAutofit/>
          </a:bodyPr>
          <a:lstStyle/>
          <a:p>
            <a:pPr algn="l"/>
            <a:r>
              <a:rPr sz="2400" b="1">
                <a:solidFill>
                  <a:srgbClr val="F8FBFC"/>
                </a:solidFill>
                <a:latin typeface="Aptos"/>
              </a:rPr>
              <a:t>“I donated…
I hope it helped.”</a:t>
            </a:r>
          </a:p>
        </p:txBody>
      </p:sp>
      <p:sp>
        <p:nvSpPr>
          <p:cNvPr id="9" name="TextBox 8"/>
          <p:cNvSpPr txBox="1"/>
          <p:nvPr/>
        </p:nvSpPr>
        <p:spPr>
          <a:xfrm>
            <a:off x="960120" y="4041648"/>
            <a:ext cx="2743200" cy="822960"/>
          </a:xfrm>
          <a:prstGeom prst="rect">
            <a:avLst/>
          </a:prstGeom>
          <a:noFill/>
        </p:spPr>
        <p:txBody>
          <a:bodyPr wrap="square" lIns="0" rIns="0" tIns="0" bIns="0" anchor="t">
            <a:normAutofit/>
          </a:bodyPr>
          <a:lstStyle/>
          <a:p>
            <a:pPr algn="l"/>
            <a:r>
              <a:rPr sz="1150" b="0">
                <a:solidFill>
                  <a:srgbClr val="AEC1CD"/>
                </a:solidFill>
                <a:latin typeface="Aptos"/>
              </a:rPr>
              <a:t>Generic receipt
No personal status
Limited visibility</a:t>
            </a:r>
          </a:p>
        </p:txBody>
      </p:sp>
      <p:cxnSp>
        <p:nvCxnSpPr>
          <p:cNvPr id="10" name="Connector 9"/>
          <p:cNvCxnSpPr/>
          <p:nvPr/>
        </p:nvCxnSpPr>
        <p:spPr>
          <a:xfrm>
            <a:off x="4709160" y="3566160"/>
            <a:ext cx="1417320" cy="0"/>
          </a:xfrm>
          <a:prstGeom prst="line">
            <a:avLst/>
          </a:prstGeom>
          <a:ln w="44450">
            <a:solidFill>
              <a:srgbClr val="1EBEA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0" y="2907792"/>
            <a:ext cx="1691640" cy="228600"/>
          </a:xfrm>
          <a:prstGeom prst="rect">
            <a:avLst/>
          </a:prstGeom>
          <a:noFill/>
        </p:spPr>
        <p:txBody>
          <a:bodyPr wrap="square" lIns="0" rIns="0" tIns="0" bIns="0" anchor="t">
            <a:normAutofit/>
          </a:bodyPr>
          <a:lstStyle/>
          <a:p>
            <a:pPr algn="ctr"/>
            <a:r>
              <a:rPr sz="950" b="1">
                <a:solidFill>
                  <a:srgbClr val="1EBEA0"/>
                </a:solidFill>
                <a:latin typeface="Aptos"/>
              </a:rPr>
              <a:t>DONATECONNECT</a:t>
            </a:r>
          </a:p>
        </p:txBody>
      </p:sp>
      <p:sp>
        <p:nvSpPr>
          <p:cNvPr id="12" name="Rounded Rectangle 11"/>
          <p:cNvSpPr/>
          <p:nvPr/>
        </p:nvSpPr>
        <p:spPr>
          <a:xfrm>
            <a:off x="6355080" y="1920240"/>
            <a:ext cx="5166360" cy="333756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2212848"/>
            <a:ext cx="1097280" cy="228600"/>
          </a:xfrm>
          <a:prstGeom prst="rect">
            <a:avLst/>
          </a:prstGeom>
          <a:noFill/>
        </p:spPr>
        <p:txBody>
          <a:bodyPr wrap="square" lIns="0" rIns="0" tIns="0" bIns="0" anchor="t">
            <a:normAutofit/>
          </a:bodyPr>
          <a:lstStyle/>
          <a:p>
            <a:pPr algn="l"/>
            <a:r>
              <a:rPr sz="950" b="1">
                <a:solidFill>
                  <a:srgbClr val="1EBEA0"/>
                </a:solidFill>
                <a:latin typeface="Aptos"/>
              </a:rPr>
              <a:t>AFTER</a:t>
            </a:r>
          </a:p>
        </p:txBody>
      </p:sp>
      <p:sp>
        <p:nvSpPr>
          <p:cNvPr id="14" name="TextBox 13"/>
          <p:cNvSpPr txBox="1"/>
          <p:nvPr/>
        </p:nvSpPr>
        <p:spPr>
          <a:xfrm>
            <a:off x="6675120" y="2743200"/>
            <a:ext cx="4206240" cy="320040"/>
          </a:xfrm>
          <a:prstGeom prst="rect">
            <a:avLst/>
          </a:prstGeom>
          <a:noFill/>
        </p:spPr>
        <p:txBody>
          <a:bodyPr wrap="square">
            <a:spAutoFit/>
          </a:bodyPr>
          <a:lstStyle/>
          <a:p>
            <a:pPr algn="l"/>
            <a:r>
              <a:rPr sz="1300" b="0">
                <a:solidFill>
                  <a:srgbClr val="AEC1CD"/>
                </a:solidFill>
                <a:latin typeface="Aptos"/>
              </a:rPr>
              <a:t>Donation </a:t>
            </a:r>
            <a:r>
              <a:rPr sz="1900" b="1">
                <a:solidFill>
                  <a:srgbClr val="F8FBFC"/>
                </a:solidFill>
                <a:latin typeface="Aptos"/>
              </a:rPr>
              <a:t>DC1025</a:t>
            </a:r>
          </a:p>
        </p:txBody>
      </p:sp>
      <p:sp>
        <p:nvSpPr>
          <p:cNvPr id="15" name="TextBox 14"/>
          <p:cNvSpPr txBox="1"/>
          <p:nvPr/>
        </p:nvSpPr>
        <p:spPr>
          <a:xfrm>
            <a:off x="6675120" y="3127248"/>
            <a:ext cx="4023360" cy="347472"/>
          </a:xfrm>
          <a:prstGeom prst="rect">
            <a:avLst/>
          </a:prstGeom>
          <a:noFill/>
        </p:spPr>
        <p:txBody>
          <a:bodyPr wrap="square" lIns="0" rIns="0" tIns="0" bIns="0" anchor="t">
            <a:normAutofit/>
          </a:bodyPr>
          <a:lstStyle/>
          <a:p>
            <a:pPr algn="l"/>
            <a:r>
              <a:rPr sz="1900" b="1">
                <a:solidFill>
                  <a:srgbClr val="F8FBFC"/>
                </a:solidFill>
                <a:latin typeface="Aptos"/>
              </a:rPr>
              <a:t>reached a family</a:t>
            </a:r>
          </a:p>
        </p:txBody>
      </p:sp>
      <p:sp>
        <p:nvSpPr>
          <p:cNvPr id="16" name="Rounded Rectangle 15"/>
          <p:cNvSpPr/>
          <p:nvPr/>
        </p:nvSpPr>
        <p:spPr>
          <a:xfrm>
            <a:off x="6675120" y="3977639"/>
            <a:ext cx="1353312" cy="502920"/>
          </a:xfrm>
          <a:prstGeom prst="round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48272" y="4142232"/>
            <a:ext cx="1207008" cy="164592"/>
          </a:xfrm>
          <a:prstGeom prst="rect">
            <a:avLst/>
          </a:prstGeom>
          <a:noFill/>
        </p:spPr>
        <p:txBody>
          <a:bodyPr wrap="square" lIns="0" rIns="0" tIns="0" bIns="0" anchor="t">
            <a:normAutofit/>
          </a:bodyPr>
          <a:lstStyle/>
          <a:p>
            <a:pPr algn="ctr"/>
            <a:r>
              <a:rPr sz="750" b="1">
                <a:solidFill>
                  <a:srgbClr val="1EBEA0"/>
                </a:solidFill>
                <a:latin typeface="Aptos"/>
              </a:rPr>
              <a:t>UNIQUE ID</a:t>
            </a:r>
          </a:p>
        </p:txBody>
      </p:sp>
      <p:sp>
        <p:nvSpPr>
          <p:cNvPr id="18" name="Rounded Rectangle 17"/>
          <p:cNvSpPr/>
          <p:nvPr/>
        </p:nvSpPr>
        <p:spPr>
          <a:xfrm>
            <a:off x="8202167" y="3977639"/>
            <a:ext cx="1353312" cy="502920"/>
          </a:xfrm>
          <a:prstGeom prst="round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4142232"/>
            <a:ext cx="1207008" cy="164592"/>
          </a:xfrm>
          <a:prstGeom prst="rect">
            <a:avLst/>
          </a:prstGeom>
          <a:noFill/>
        </p:spPr>
        <p:txBody>
          <a:bodyPr wrap="square" lIns="0" rIns="0" tIns="0" bIns="0" anchor="t">
            <a:normAutofit/>
          </a:bodyPr>
          <a:lstStyle/>
          <a:p>
            <a:pPr algn="ctr"/>
            <a:r>
              <a:rPr sz="750" b="1">
                <a:solidFill>
                  <a:srgbClr val="F4B74C"/>
                </a:solidFill>
                <a:latin typeface="Aptos"/>
              </a:rPr>
              <a:t>VERIFIED NGO</a:t>
            </a:r>
          </a:p>
        </p:txBody>
      </p:sp>
      <p:sp>
        <p:nvSpPr>
          <p:cNvPr id="20" name="Rounded Rectangle 19"/>
          <p:cNvSpPr/>
          <p:nvPr/>
        </p:nvSpPr>
        <p:spPr>
          <a:xfrm>
            <a:off x="9729216" y="3977639"/>
            <a:ext cx="1353312" cy="502920"/>
          </a:xfrm>
          <a:prstGeom prst="round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02367" y="4142232"/>
            <a:ext cx="1207008" cy="164592"/>
          </a:xfrm>
          <a:prstGeom prst="rect">
            <a:avLst/>
          </a:prstGeom>
          <a:noFill/>
        </p:spPr>
        <p:txBody>
          <a:bodyPr wrap="square" lIns="0" rIns="0" tIns="0" bIns="0" anchor="t">
            <a:normAutofit/>
          </a:bodyPr>
          <a:lstStyle/>
          <a:p>
            <a:pPr algn="ctr"/>
            <a:r>
              <a:rPr sz="750" b="1">
                <a:solidFill>
                  <a:srgbClr val="F5705B"/>
                </a:solidFill>
                <a:latin typeface="Aptos"/>
              </a:rPr>
              <a:t>DELIVERY PROOF</a:t>
            </a:r>
          </a:p>
        </p:txBody>
      </p:sp>
      <p:sp>
        <p:nvSpPr>
          <p:cNvPr id="22" name="TextBox 21"/>
          <p:cNvSpPr txBox="1"/>
          <p:nvPr/>
        </p:nvSpPr>
        <p:spPr>
          <a:xfrm>
            <a:off x="6675120" y="4709160"/>
            <a:ext cx="4206240" cy="256032"/>
          </a:xfrm>
          <a:prstGeom prst="rect">
            <a:avLst/>
          </a:prstGeom>
          <a:noFill/>
        </p:spPr>
        <p:txBody>
          <a:bodyPr wrap="square" lIns="0" rIns="0" tIns="0" bIns="0" anchor="t">
            <a:normAutofit/>
          </a:bodyPr>
          <a:lstStyle/>
          <a:p>
            <a:pPr algn="l"/>
            <a:r>
              <a:rPr sz="1150" b="0">
                <a:solidFill>
                  <a:srgbClr val="AEC1CD"/>
                </a:solidFill>
                <a:latin typeface="Aptos"/>
              </a:rPr>
              <a:t>A visible result the donor can track.</a:t>
            </a:r>
          </a:p>
        </p:txBody>
      </p:sp>
      <p:sp>
        <p:nvSpPr>
          <p:cNvPr id="23" name="TextBox 22"/>
          <p:cNvSpPr txBox="1"/>
          <p:nvPr/>
        </p:nvSpPr>
        <p:spPr>
          <a:xfrm>
            <a:off x="640080" y="6547104"/>
            <a:ext cx="4572000" cy="182880"/>
          </a:xfrm>
          <a:prstGeom prst="rect">
            <a:avLst/>
          </a:prstGeom>
          <a:noFill/>
        </p:spPr>
        <p:txBody>
          <a:bodyPr wrap="square" lIns="0" rIns="0" tIns="0" bIns="0" anchor="t">
            <a:normAutofit/>
          </a:bodyPr>
          <a:lstStyle/>
          <a:p>
            <a:pPr algn="l"/>
            <a:r>
              <a:rPr sz="850" b="1">
                <a:solidFill>
                  <a:srgbClr val="5D7989"/>
                </a:solidFill>
                <a:latin typeface="Aptos"/>
              </a:rPr>
              <a:t>DONATECONNECT  •  HACKFORGE IDEATHON</a:t>
            </a:r>
          </a:p>
        </p:txBody>
      </p:sp>
      <p:sp>
        <p:nvSpPr>
          <p:cNvPr id="24" name="TextBox 23"/>
          <p:cNvSpPr txBox="1"/>
          <p:nvPr/>
        </p:nvSpPr>
        <p:spPr>
          <a:xfrm>
            <a:off x="10972800" y="6519672"/>
            <a:ext cx="502920" cy="201168"/>
          </a:xfrm>
          <a:prstGeom prst="rect">
            <a:avLst/>
          </a:prstGeom>
          <a:noFill/>
        </p:spPr>
        <p:txBody>
          <a:bodyPr wrap="square" lIns="0" rIns="0" tIns="0" bIns="0" anchor="t">
            <a:normAutofit/>
          </a:bodyPr>
          <a:lstStyle/>
          <a:p>
            <a:pPr algn="r"/>
            <a:r>
              <a:rPr sz="900" b="1">
                <a:solidFill>
                  <a:srgbClr val="5D7989"/>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3474720" cy="256032"/>
          </a:xfrm>
          <a:prstGeom prst="rect">
            <a:avLst/>
          </a:prstGeom>
          <a:noFill/>
        </p:spPr>
        <p:txBody>
          <a:bodyPr wrap="square" lIns="0" rIns="0" tIns="0" bIns="0" anchor="t">
            <a:normAutofit/>
          </a:bodyPr>
          <a:lstStyle/>
          <a:p>
            <a:pPr algn="l"/>
            <a:r>
              <a:rPr sz="1000" b="1">
                <a:solidFill>
                  <a:srgbClr val="13806F"/>
                </a:solidFill>
                <a:latin typeface="Aptos"/>
              </a:rPr>
              <a:t>04 • HOW IT WORKS</a:t>
            </a:r>
          </a:p>
        </p:txBody>
      </p:sp>
      <p:sp>
        <p:nvSpPr>
          <p:cNvPr id="4" name="TextBox 3"/>
          <p:cNvSpPr txBox="1"/>
          <p:nvPr/>
        </p:nvSpPr>
        <p:spPr>
          <a:xfrm>
            <a:off x="640080" y="713232"/>
            <a:ext cx="10789920" cy="566928"/>
          </a:xfrm>
          <a:prstGeom prst="rect">
            <a:avLst/>
          </a:prstGeom>
          <a:noFill/>
        </p:spPr>
        <p:txBody>
          <a:bodyPr wrap="square" lIns="0" rIns="0" tIns="0" bIns="0" anchor="t">
            <a:normAutofit/>
          </a:bodyPr>
          <a:lstStyle/>
          <a:p>
            <a:pPr algn="l"/>
            <a:r>
              <a:rPr sz="2700" b="1">
                <a:solidFill>
                  <a:srgbClr val="142632"/>
                </a:solidFill>
                <a:latin typeface="Aptos"/>
              </a:rPr>
              <a:t>One simple loop: Give → Deliver → Prove → Trust.</a:t>
            </a:r>
          </a:p>
        </p:txBody>
      </p:sp>
      <p:sp>
        <p:nvSpPr>
          <p:cNvPr id="5" name="TextBox 4"/>
          <p:cNvSpPr txBox="1"/>
          <p:nvPr/>
        </p:nvSpPr>
        <p:spPr>
          <a:xfrm>
            <a:off x="640080" y="1307592"/>
            <a:ext cx="10515600" cy="384048"/>
          </a:xfrm>
          <a:prstGeom prst="rect">
            <a:avLst/>
          </a:prstGeom>
          <a:noFill/>
        </p:spPr>
        <p:txBody>
          <a:bodyPr wrap="square" lIns="0" rIns="0" tIns="0" bIns="0" anchor="t">
            <a:normAutofit/>
          </a:bodyPr>
          <a:lstStyle/>
          <a:p>
            <a:pPr algn="l"/>
            <a:r>
              <a:rPr sz="1250" b="0">
                <a:solidFill>
                  <a:srgbClr val="5C707E"/>
                </a:solidFill>
                <a:latin typeface="Aptos"/>
              </a:rPr>
              <a:t>Three layers work together to make the result visible.</a:t>
            </a:r>
          </a:p>
        </p:txBody>
      </p:sp>
      <p:sp>
        <p:nvSpPr>
          <p:cNvPr id="6" name="Oval 5"/>
          <p:cNvSpPr/>
          <p:nvPr/>
        </p:nvSpPr>
        <p:spPr>
          <a:xfrm>
            <a:off x="914400" y="2057400"/>
            <a:ext cx="530352" cy="530352"/>
          </a:xfrm>
          <a:prstGeom prst="ellipse">
            <a:avLst/>
          </a:prstGeom>
          <a:solidFill>
            <a:srgbClr val="138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30552"/>
            <a:ext cx="530352" cy="256032"/>
          </a:xfrm>
          <a:prstGeom prst="rect">
            <a:avLst/>
          </a:prstGeom>
          <a:noFill/>
        </p:spPr>
        <p:txBody>
          <a:bodyPr wrap="square" lIns="0" rIns="0" tIns="0" bIns="0" anchor="t">
            <a:normAutofit/>
          </a:bodyPr>
          <a:lstStyle/>
          <a:p>
            <a:pPr algn="ctr"/>
            <a:r>
              <a:rPr sz="1100" b="1">
                <a:solidFill>
                  <a:srgbClr val="091827"/>
                </a:solidFill>
                <a:latin typeface="Aptos"/>
              </a:rPr>
              <a:t>1</a:t>
            </a:r>
          </a:p>
        </p:txBody>
      </p:sp>
      <p:sp>
        <p:nvSpPr>
          <p:cNvPr id="8" name="TextBox 7"/>
          <p:cNvSpPr txBox="1"/>
          <p:nvPr/>
        </p:nvSpPr>
        <p:spPr>
          <a:xfrm>
            <a:off x="685800" y="2807208"/>
            <a:ext cx="1828800" cy="274320"/>
          </a:xfrm>
          <a:prstGeom prst="rect">
            <a:avLst/>
          </a:prstGeom>
          <a:noFill/>
        </p:spPr>
        <p:txBody>
          <a:bodyPr wrap="square" lIns="0" rIns="0" tIns="0" bIns="0" anchor="t">
            <a:normAutofit/>
          </a:bodyPr>
          <a:lstStyle/>
          <a:p>
            <a:pPr algn="ctr"/>
            <a:r>
              <a:rPr sz="1250" b="1">
                <a:solidFill>
                  <a:srgbClr val="142632"/>
                </a:solidFill>
                <a:latin typeface="Aptos"/>
              </a:rPr>
              <a:t>DONATE</a:t>
            </a:r>
          </a:p>
        </p:txBody>
      </p:sp>
      <p:sp>
        <p:nvSpPr>
          <p:cNvPr id="9" name="TextBox 8"/>
          <p:cNvSpPr txBox="1"/>
          <p:nvPr/>
        </p:nvSpPr>
        <p:spPr>
          <a:xfrm>
            <a:off x="411479" y="3154680"/>
            <a:ext cx="2377440" cy="594360"/>
          </a:xfrm>
          <a:prstGeom prst="rect">
            <a:avLst/>
          </a:prstGeom>
          <a:noFill/>
        </p:spPr>
        <p:txBody>
          <a:bodyPr wrap="square" lIns="0" rIns="0" tIns="0" bIns="0" anchor="t">
            <a:normAutofit/>
          </a:bodyPr>
          <a:lstStyle/>
          <a:p>
            <a:pPr algn="ctr"/>
            <a:r>
              <a:rPr sz="1050" b="0">
                <a:solidFill>
                  <a:srgbClr val="5C707E"/>
                </a:solidFill>
                <a:latin typeface="Aptos"/>
              </a:rPr>
              <a:t>Choose money, food,
clothes, books or medicines</a:t>
            </a:r>
          </a:p>
        </p:txBody>
      </p:sp>
      <p:sp>
        <p:nvSpPr>
          <p:cNvPr id="10" name="Oval 9"/>
          <p:cNvSpPr/>
          <p:nvPr/>
        </p:nvSpPr>
        <p:spPr>
          <a:xfrm>
            <a:off x="3840480" y="2057400"/>
            <a:ext cx="530352" cy="530352"/>
          </a:xfrm>
          <a:prstGeom prst="ellipse">
            <a:avLst/>
          </a:prstGeom>
          <a:solidFill>
            <a:srgbClr val="F4B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0" y="2130552"/>
            <a:ext cx="530352" cy="256032"/>
          </a:xfrm>
          <a:prstGeom prst="rect">
            <a:avLst/>
          </a:prstGeom>
          <a:noFill/>
        </p:spPr>
        <p:txBody>
          <a:bodyPr wrap="square" lIns="0" rIns="0" tIns="0" bIns="0" anchor="t">
            <a:normAutofit/>
          </a:bodyPr>
          <a:lstStyle/>
          <a:p>
            <a:pPr algn="ctr"/>
            <a:r>
              <a:rPr sz="1100" b="1">
                <a:solidFill>
                  <a:srgbClr val="091827"/>
                </a:solidFill>
                <a:latin typeface="Aptos"/>
              </a:rPr>
              <a:t>2</a:t>
            </a:r>
          </a:p>
        </p:txBody>
      </p:sp>
      <p:sp>
        <p:nvSpPr>
          <p:cNvPr id="12" name="TextBox 11"/>
          <p:cNvSpPr txBox="1"/>
          <p:nvPr/>
        </p:nvSpPr>
        <p:spPr>
          <a:xfrm>
            <a:off x="3611880" y="2807208"/>
            <a:ext cx="1828800" cy="274320"/>
          </a:xfrm>
          <a:prstGeom prst="rect">
            <a:avLst/>
          </a:prstGeom>
          <a:noFill/>
        </p:spPr>
        <p:txBody>
          <a:bodyPr wrap="square" lIns="0" rIns="0" tIns="0" bIns="0" anchor="t">
            <a:normAutofit/>
          </a:bodyPr>
          <a:lstStyle/>
          <a:p>
            <a:pPr algn="ctr"/>
            <a:r>
              <a:rPr sz="1250" b="1">
                <a:solidFill>
                  <a:srgbClr val="142632"/>
                </a:solidFill>
                <a:latin typeface="Aptos"/>
              </a:rPr>
              <a:t>ID CREATED</a:t>
            </a:r>
          </a:p>
        </p:txBody>
      </p:sp>
      <p:sp>
        <p:nvSpPr>
          <p:cNvPr id="13" name="TextBox 12"/>
          <p:cNvSpPr txBox="1"/>
          <p:nvPr/>
        </p:nvSpPr>
        <p:spPr>
          <a:xfrm>
            <a:off x="3337560" y="3154680"/>
            <a:ext cx="2377440" cy="594360"/>
          </a:xfrm>
          <a:prstGeom prst="rect">
            <a:avLst/>
          </a:prstGeom>
          <a:noFill/>
        </p:spPr>
        <p:txBody>
          <a:bodyPr wrap="square" lIns="0" rIns="0" tIns="0" bIns="0" anchor="t">
            <a:normAutofit/>
          </a:bodyPr>
          <a:lstStyle/>
          <a:p>
            <a:pPr algn="ctr"/>
            <a:r>
              <a:rPr sz="1050" b="0">
                <a:solidFill>
                  <a:srgbClr val="5C707E"/>
                </a:solidFill>
                <a:latin typeface="Aptos"/>
              </a:rPr>
              <a:t>Unique Donation ID
DC1025</a:t>
            </a:r>
          </a:p>
        </p:txBody>
      </p:sp>
      <p:sp>
        <p:nvSpPr>
          <p:cNvPr id="14" name="Oval 13"/>
          <p:cNvSpPr/>
          <p:nvPr/>
        </p:nvSpPr>
        <p:spPr>
          <a:xfrm>
            <a:off x="6766560" y="2057400"/>
            <a:ext cx="530352" cy="530352"/>
          </a:xfrm>
          <a:prstGeom prst="ellipse">
            <a:avLst/>
          </a:prstGeom>
          <a:solidFill>
            <a:srgbClr val="F570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2130552"/>
            <a:ext cx="530352" cy="256032"/>
          </a:xfrm>
          <a:prstGeom prst="rect">
            <a:avLst/>
          </a:prstGeom>
          <a:noFill/>
        </p:spPr>
        <p:txBody>
          <a:bodyPr wrap="square" lIns="0" rIns="0" tIns="0" bIns="0" anchor="t">
            <a:normAutofit/>
          </a:bodyPr>
          <a:lstStyle/>
          <a:p>
            <a:pPr algn="ctr"/>
            <a:r>
              <a:rPr sz="1100" b="1">
                <a:solidFill>
                  <a:srgbClr val="091827"/>
                </a:solidFill>
                <a:latin typeface="Aptos"/>
              </a:rPr>
              <a:t>3</a:t>
            </a:r>
          </a:p>
        </p:txBody>
      </p:sp>
      <p:sp>
        <p:nvSpPr>
          <p:cNvPr id="16" name="TextBox 15"/>
          <p:cNvSpPr txBox="1"/>
          <p:nvPr/>
        </p:nvSpPr>
        <p:spPr>
          <a:xfrm>
            <a:off x="6537960" y="2807208"/>
            <a:ext cx="1828800" cy="274320"/>
          </a:xfrm>
          <a:prstGeom prst="rect">
            <a:avLst/>
          </a:prstGeom>
          <a:noFill/>
        </p:spPr>
        <p:txBody>
          <a:bodyPr wrap="square" lIns="0" rIns="0" tIns="0" bIns="0" anchor="t">
            <a:normAutofit/>
          </a:bodyPr>
          <a:lstStyle/>
          <a:p>
            <a:pPr algn="ctr"/>
            <a:r>
              <a:rPr sz="1250" b="1">
                <a:solidFill>
                  <a:srgbClr val="142632"/>
                </a:solidFill>
                <a:latin typeface="Aptos"/>
              </a:rPr>
              <a:t>DELIVER</a:t>
            </a:r>
          </a:p>
        </p:txBody>
      </p:sp>
      <p:sp>
        <p:nvSpPr>
          <p:cNvPr id="17" name="TextBox 16"/>
          <p:cNvSpPr txBox="1"/>
          <p:nvPr/>
        </p:nvSpPr>
        <p:spPr>
          <a:xfrm>
            <a:off x="6263640" y="3154680"/>
            <a:ext cx="2377440" cy="594360"/>
          </a:xfrm>
          <a:prstGeom prst="rect">
            <a:avLst/>
          </a:prstGeom>
          <a:noFill/>
        </p:spPr>
        <p:txBody>
          <a:bodyPr wrap="square" lIns="0" rIns="0" tIns="0" bIns="0" anchor="t">
            <a:normAutofit/>
          </a:bodyPr>
          <a:lstStyle/>
          <a:p>
            <a:pPr algn="ctr"/>
            <a:r>
              <a:rPr sz="1050" b="0">
                <a:solidFill>
                  <a:srgbClr val="5C707E"/>
                </a:solidFill>
                <a:latin typeface="Aptos"/>
              </a:rPr>
              <a:t>NGO provides help
and uploads proof</a:t>
            </a:r>
          </a:p>
        </p:txBody>
      </p:sp>
      <p:sp>
        <p:nvSpPr>
          <p:cNvPr id="18" name="Oval 17"/>
          <p:cNvSpPr/>
          <p:nvPr/>
        </p:nvSpPr>
        <p:spPr>
          <a:xfrm>
            <a:off x="9144000" y="4160520"/>
            <a:ext cx="530352" cy="530352"/>
          </a:xfrm>
          <a:prstGeom prst="ellipse">
            <a:avLst/>
          </a:prstGeom>
          <a:solidFill>
            <a:srgbClr val="138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0" y="4233672"/>
            <a:ext cx="530352" cy="256032"/>
          </a:xfrm>
          <a:prstGeom prst="rect">
            <a:avLst/>
          </a:prstGeom>
          <a:noFill/>
        </p:spPr>
        <p:txBody>
          <a:bodyPr wrap="square" lIns="0" rIns="0" tIns="0" bIns="0" anchor="t">
            <a:normAutofit/>
          </a:bodyPr>
          <a:lstStyle/>
          <a:p>
            <a:pPr algn="ctr"/>
            <a:r>
              <a:rPr sz="1100" b="1">
                <a:solidFill>
                  <a:srgbClr val="091827"/>
                </a:solidFill>
                <a:latin typeface="Aptos"/>
              </a:rPr>
              <a:t>4</a:t>
            </a:r>
          </a:p>
        </p:txBody>
      </p:sp>
      <p:sp>
        <p:nvSpPr>
          <p:cNvPr id="20" name="TextBox 19"/>
          <p:cNvSpPr txBox="1"/>
          <p:nvPr/>
        </p:nvSpPr>
        <p:spPr>
          <a:xfrm>
            <a:off x="8915400" y="4910328"/>
            <a:ext cx="1828800" cy="274320"/>
          </a:xfrm>
          <a:prstGeom prst="rect">
            <a:avLst/>
          </a:prstGeom>
          <a:noFill/>
        </p:spPr>
        <p:txBody>
          <a:bodyPr wrap="square" lIns="0" rIns="0" tIns="0" bIns="0" anchor="t">
            <a:normAutofit/>
          </a:bodyPr>
          <a:lstStyle/>
          <a:p>
            <a:pPr algn="ctr"/>
            <a:r>
              <a:rPr sz="1250" b="1">
                <a:solidFill>
                  <a:srgbClr val="142632"/>
                </a:solidFill>
                <a:latin typeface="Aptos"/>
              </a:rPr>
              <a:t>TRACK</a:t>
            </a:r>
          </a:p>
        </p:txBody>
      </p:sp>
      <p:sp>
        <p:nvSpPr>
          <p:cNvPr id="21" name="TextBox 20"/>
          <p:cNvSpPr txBox="1"/>
          <p:nvPr/>
        </p:nvSpPr>
        <p:spPr>
          <a:xfrm>
            <a:off x="8641080" y="5257800"/>
            <a:ext cx="2377440" cy="594360"/>
          </a:xfrm>
          <a:prstGeom prst="rect">
            <a:avLst/>
          </a:prstGeom>
          <a:noFill/>
        </p:spPr>
        <p:txBody>
          <a:bodyPr wrap="square" lIns="0" rIns="0" tIns="0" bIns="0" anchor="t">
            <a:normAutofit/>
          </a:bodyPr>
          <a:lstStyle/>
          <a:p>
            <a:pPr algn="ctr"/>
            <a:r>
              <a:rPr sz="1050" b="0">
                <a:solidFill>
                  <a:srgbClr val="5C707E"/>
                </a:solidFill>
                <a:latin typeface="Aptos"/>
              </a:rPr>
              <a:t>Donor checks status
and sees proof</a:t>
            </a:r>
          </a:p>
        </p:txBody>
      </p:sp>
      <p:cxnSp>
        <p:nvCxnSpPr>
          <p:cNvPr id="22" name="Connector 21"/>
          <p:cNvCxnSpPr/>
          <p:nvPr/>
        </p:nvCxnSpPr>
        <p:spPr>
          <a:xfrm>
            <a:off x="1874519" y="2322576"/>
            <a:ext cx="1783081" cy="0"/>
          </a:xfrm>
          <a:prstGeom prst="line">
            <a:avLst/>
          </a:prstGeom>
          <a:ln w="25400">
            <a:solidFill>
              <a:srgbClr val="13806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800600" y="2322576"/>
            <a:ext cx="1783080" cy="0"/>
          </a:xfrm>
          <a:prstGeom prst="line">
            <a:avLst/>
          </a:prstGeom>
          <a:ln w="25400">
            <a:solidFill>
              <a:srgbClr val="13806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726679" y="2743200"/>
            <a:ext cx="1280161" cy="1325880"/>
          </a:xfrm>
          <a:prstGeom prst="line">
            <a:avLst/>
          </a:prstGeom>
          <a:ln w="25400">
            <a:solidFill>
              <a:srgbClr val="13806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828800" y="4160520"/>
            <a:ext cx="7315200" cy="0"/>
          </a:xfrm>
          <a:prstGeom prst="line">
            <a:avLst/>
          </a:prstGeom>
          <a:ln w="25400">
            <a:solidFill>
              <a:srgbClr val="13806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49808" y="5074920"/>
            <a:ext cx="1371600" cy="228600"/>
          </a:xfrm>
          <a:prstGeom prst="rect">
            <a:avLst/>
          </a:prstGeom>
          <a:noFill/>
        </p:spPr>
        <p:txBody>
          <a:bodyPr wrap="square" lIns="0" rIns="0" tIns="0" bIns="0" anchor="t">
            <a:normAutofit/>
          </a:bodyPr>
          <a:lstStyle/>
          <a:p>
            <a:pPr algn="l"/>
            <a:r>
              <a:rPr sz="950" b="1">
                <a:solidFill>
                  <a:srgbClr val="13806F"/>
                </a:solidFill>
                <a:latin typeface="Aptos"/>
              </a:rPr>
              <a:t>TRUST LAYERS</a:t>
            </a:r>
          </a:p>
        </p:txBody>
      </p:sp>
      <p:sp>
        <p:nvSpPr>
          <p:cNvPr id="27" name="Rounded Rectangle 26"/>
          <p:cNvSpPr/>
          <p:nvPr/>
        </p:nvSpPr>
        <p:spPr>
          <a:xfrm>
            <a:off x="731520" y="5440680"/>
            <a:ext cx="3246120" cy="658368"/>
          </a:xfrm>
          <a:prstGeom prst="roundRect">
            <a:avLst/>
          </a:prstGeom>
          <a:solidFill>
            <a:srgbClr val="F8FBFC"/>
          </a:solidFill>
          <a:ln w="1270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596128"/>
            <a:ext cx="731520" cy="182880"/>
          </a:xfrm>
          <a:prstGeom prst="rect">
            <a:avLst/>
          </a:prstGeom>
          <a:noFill/>
        </p:spPr>
        <p:txBody>
          <a:bodyPr wrap="square" lIns="0" rIns="0" tIns="0" bIns="0" anchor="t">
            <a:normAutofit/>
          </a:bodyPr>
          <a:lstStyle/>
          <a:p>
            <a:pPr algn="l"/>
            <a:r>
              <a:rPr sz="850" b="1">
                <a:solidFill>
                  <a:srgbClr val="13806F"/>
                </a:solidFill>
                <a:latin typeface="Aptos"/>
              </a:rPr>
              <a:t>DONOR</a:t>
            </a:r>
          </a:p>
        </p:txBody>
      </p:sp>
      <p:sp>
        <p:nvSpPr>
          <p:cNvPr id="29" name="TextBox 28"/>
          <p:cNvSpPr txBox="1"/>
          <p:nvPr/>
        </p:nvSpPr>
        <p:spPr>
          <a:xfrm>
            <a:off x="1645920" y="5568696"/>
            <a:ext cx="2103120" cy="274320"/>
          </a:xfrm>
          <a:prstGeom prst="rect">
            <a:avLst/>
          </a:prstGeom>
          <a:noFill/>
        </p:spPr>
        <p:txBody>
          <a:bodyPr wrap="square" lIns="0" rIns="0" tIns="0" bIns="0" anchor="t">
            <a:normAutofit/>
          </a:bodyPr>
          <a:lstStyle/>
          <a:p>
            <a:pPr algn="l"/>
            <a:r>
              <a:rPr sz="950" b="1">
                <a:solidFill>
                  <a:srgbClr val="142632"/>
                </a:solidFill>
                <a:latin typeface="Aptos"/>
              </a:rPr>
              <a:t>Gives + tracks</a:t>
            </a:r>
          </a:p>
        </p:txBody>
      </p:sp>
      <p:sp>
        <p:nvSpPr>
          <p:cNvPr id="30" name="Rounded Rectangle 29"/>
          <p:cNvSpPr/>
          <p:nvPr/>
        </p:nvSpPr>
        <p:spPr>
          <a:xfrm>
            <a:off x="4343400" y="5440680"/>
            <a:ext cx="3246120" cy="658368"/>
          </a:xfrm>
          <a:prstGeom prst="roundRect">
            <a:avLst/>
          </a:prstGeom>
          <a:solidFill>
            <a:srgbClr val="F8FBFC"/>
          </a:solidFill>
          <a:ln w="1270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07992" y="5596128"/>
            <a:ext cx="731520" cy="182880"/>
          </a:xfrm>
          <a:prstGeom prst="rect">
            <a:avLst/>
          </a:prstGeom>
          <a:noFill/>
        </p:spPr>
        <p:txBody>
          <a:bodyPr wrap="square" lIns="0" rIns="0" tIns="0" bIns="0" anchor="t">
            <a:normAutofit/>
          </a:bodyPr>
          <a:lstStyle/>
          <a:p>
            <a:pPr algn="l"/>
            <a:r>
              <a:rPr sz="850" b="1">
                <a:solidFill>
                  <a:srgbClr val="F5705B"/>
                </a:solidFill>
                <a:latin typeface="Aptos"/>
              </a:rPr>
              <a:t>NGO</a:t>
            </a:r>
          </a:p>
        </p:txBody>
      </p:sp>
      <p:sp>
        <p:nvSpPr>
          <p:cNvPr id="32" name="TextBox 31"/>
          <p:cNvSpPr txBox="1"/>
          <p:nvPr/>
        </p:nvSpPr>
        <p:spPr>
          <a:xfrm>
            <a:off x="5257800" y="5568696"/>
            <a:ext cx="2103120" cy="274320"/>
          </a:xfrm>
          <a:prstGeom prst="rect">
            <a:avLst/>
          </a:prstGeom>
          <a:noFill/>
        </p:spPr>
        <p:txBody>
          <a:bodyPr wrap="square" lIns="0" rIns="0" tIns="0" bIns="0" anchor="t">
            <a:normAutofit/>
          </a:bodyPr>
          <a:lstStyle/>
          <a:p>
            <a:pPr algn="l"/>
            <a:r>
              <a:rPr sz="950" b="1">
                <a:solidFill>
                  <a:srgbClr val="142632"/>
                </a:solidFill>
                <a:latin typeface="Aptos"/>
              </a:rPr>
              <a:t>Delivers + proves</a:t>
            </a:r>
          </a:p>
        </p:txBody>
      </p:sp>
      <p:sp>
        <p:nvSpPr>
          <p:cNvPr id="33" name="Rounded Rectangle 32"/>
          <p:cNvSpPr/>
          <p:nvPr/>
        </p:nvSpPr>
        <p:spPr>
          <a:xfrm>
            <a:off x="7955280" y="5440680"/>
            <a:ext cx="3246120" cy="658368"/>
          </a:xfrm>
          <a:prstGeom prst="roundRect">
            <a:avLst/>
          </a:prstGeom>
          <a:solidFill>
            <a:srgbClr val="F8FBFC"/>
          </a:solidFill>
          <a:ln w="1270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19872" y="5596128"/>
            <a:ext cx="731520" cy="182880"/>
          </a:xfrm>
          <a:prstGeom prst="rect">
            <a:avLst/>
          </a:prstGeom>
          <a:noFill/>
        </p:spPr>
        <p:txBody>
          <a:bodyPr wrap="square" lIns="0" rIns="0" tIns="0" bIns="0" anchor="t">
            <a:normAutofit/>
          </a:bodyPr>
          <a:lstStyle/>
          <a:p>
            <a:pPr algn="l"/>
            <a:r>
              <a:rPr sz="850" b="1">
                <a:solidFill>
                  <a:srgbClr val="F4B74C"/>
                </a:solidFill>
                <a:latin typeface="Aptos"/>
              </a:rPr>
              <a:t>TRUST</a:t>
            </a:r>
          </a:p>
        </p:txBody>
      </p:sp>
      <p:sp>
        <p:nvSpPr>
          <p:cNvPr id="35" name="TextBox 34"/>
          <p:cNvSpPr txBox="1"/>
          <p:nvPr/>
        </p:nvSpPr>
        <p:spPr>
          <a:xfrm>
            <a:off x="8869680" y="5568696"/>
            <a:ext cx="2103120" cy="274320"/>
          </a:xfrm>
          <a:prstGeom prst="rect">
            <a:avLst/>
          </a:prstGeom>
          <a:noFill/>
        </p:spPr>
        <p:txBody>
          <a:bodyPr wrap="square" lIns="0" rIns="0" tIns="0" bIns="0" anchor="t">
            <a:normAutofit/>
          </a:bodyPr>
          <a:lstStyle/>
          <a:p>
            <a:pPr algn="l"/>
            <a:r>
              <a:rPr sz="950" b="1">
                <a:solidFill>
                  <a:srgbClr val="142632"/>
                </a:solidFill>
                <a:latin typeface="Aptos"/>
              </a:rPr>
              <a:t>Verified badge • public table • anonymous IDs</a:t>
            </a:r>
          </a:p>
        </p:txBody>
      </p:sp>
      <p:sp>
        <p:nvSpPr>
          <p:cNvPr id="36" name="TextBox 35"/>
          <p:cNvSpPr txBox="1"/>
          <p:nvPr/>
        </p:nvSpPr>
        <p:spPr>
          <a:xfrm>
            <a:off x="640080" y="6547104"/>
            <a:ext cx="4572000" cy="182880"/>
          </a:xfrm>
          <a:prstGeom prst="rect">
            <a:avLst/>
          </a:prstGeom>
          <a:noFill/>
        </p:spPr>
        <p:txBody>
          <a:bodyPr wrap="square" lIns="0" rIns="0" tIns="0" bIns="0" anchor="t">
            <a:normAutofit/>
          </a:bodyPr>
          <a:lstStyle/>
          <a:p>
            <a:pPr algn="l"/>
            <a:r>
              <a:rPr sz="850" b="1">
                <a:solidFill>
                  <a:srgbClr val="80919A"/>
                </a:solidFill>
                <a:latin typeface="Aptos"/>
              </a:rPr>
              <a:t>DONATECONNECT  •  HACKFORGE IDEATHON</a:t>
            </a:r>
          </a:p>
        </p:txBody>
      </p:sp>
      <p:sp>
        <p:nvSpPr>
          <p:cNvPr id="37" name="TextBox 36"/>
          <p:cNvSpPr txBox="1"/>
          <p:nvPr/>
        </p:nvSpPr>
        <p:spPr>
          <a:xfrm>
            <a:off x="10972800" y="6519672"/>
            <a:ext cx="502920" cy="201168"/>
          </a:xfrm>
          <a:prstGeom prst="rect">
            <a:avLst/>
          </a:prstGeom>
          <a:noFill/>
        </p:spPr>
        <p:txBody>
          <a:bodyPr wrap="square" lIns="0" rIns="0" tIns="0" bIns="0" anchor="t">
            <a:normAutofit/>
          </a:bodyPr>
          <a:lstStyle/>
          <a:p>
            <a:pPr algn="r"/>
            <a:r>
              <a:rPr sz="900" b="1">
                <a:solidFill>
                  <a:srgbClr val="80919A"/>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3474720" cy="256032"/>
          </a:xfrm>
          <a:prstGeom prst="rect">
            <a:avLst/>
          </a:prstGeom>
          <a:noFill/>
        </p:spPr>
        <p:txBody>
          <a:bodyPr wrap="square" lIns="0" rIns="0" tIns="0" bIns="0" anchor="t">
            <a:normAutofit/>
          </a:bodyPr>
          <a:lstStyle/>
          <a:p>
            <a:pPr algn="l"/>
            <a:r>
              <a:rPr sz="1000" b="1">
                <a:solidFill>
                  <a:srgbClr val="1EBEA0"/>
                </a:solidFill>
                <a:latin typeface="Aptos"/>
              </a:rPr>
              <a:t>05 • CORE FEATURES</a:t>
            </a:r>
          </a:p>
        </p:txBody>
      </p:sp>
      <p:sp>
        <p:nvSpPr>
          <p:cNvPr id="4" name="TextBox 3"/>
          <p:cNvSpPr txBox="1"/>
          <p:nvPr/>
        </p:nvSpPr>
        <p:spPr>
          <a:xfrm>
            <a:off x="640080" y="713232"/>
            <a:ext cx="10789920" cy="566928"/>
          </a:xfrm>
          <a:prstGeom prst="rect">
            <a:avLst/>
          </a:prstGeom>
          <a:noFill/>
        </p:spPr>
        <p:txBody>
          <a:bodyPr wrap="square" lIns="0" rIns="0" tIns="0" bIns="0" anchor="t">
            <a:normAutofit/>
          </a:bodyPr>
          <a:lstStyle/>
          <a:p>
            <a:pPr algn="l"/>
            <a:r>
              <a:rPr sz="2700" b="1">
                <a:solidFill>
                  <a:srgbClr val="F8FBFC"/>
                </a:solidFill>
                <a:latin typeface="Aptos"/>
              </a:rPr>
              <a:t>Eight features designed around one promise: visibility.</a:t>
            </a:r>
          </a:p>
        </p:txBody>
      </p:sp>
      <p:sp>
        <p:nvSpPr>
          <p:cNvPr id="5" name="TextBox 4"/>
          <p:cNvSpPr txBox="1"/>
          <p:nvPr/>
        </p:nvSpPr>
        <p:spPr>
          <a:xfrm>
            <a:off x="640080" y="1307592"/>
            <a:ext cx="10515600" cy="384048"/>
          </a:xfrm>
          <a:prstGeom prst="rect">
            <a:avLst/>
          </a:prstGeom>
          <a:noFill/>
        </p:spPr>
        <p:txBody>
          <a:bodyPr wrap="square" lIns="0" rIns="0" tIns="0" bIns="0" anchor="t">
            <a:normAutofit/>
          </a:bodyPr>
          <a:lstStyle/>
          <a:p>
            <a:pPr algn="l"/>
            <a:r>
              <a:rPr sz="1250" b="0">
                <a:solidFill>
                  <a:srgbClr val="AEC1CD"/>
                </a:solidFill>
                <a:latin typeface="Aptos"/>
              </a:rPr>
              <a:t>The working front-end prototype already covers these user journeys.</a:t>
            </a:r>
          </a:p>
        </p:txBody>
      </p:sp>
      <p:sp>
        <p:nvSpPr>
          <p:cNvPr id="6" name="Rounded Rectangle 5"/>
          <p:cNvSpPr/>
          <p:nvPr/>
        </p:nvSpPr>
        <p:spPr>
          <a:xfrm>
            <a:off x="640080" y="1965960"/>
            <a:ext cx="2487168" cy="1572768"/>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41247" y="2167128"/>
            <a:ext cx="384048" cy="384048"/>
          </a:xfrm>
          <a:prstGeom prst="ellipse">
            <a:avLst/>
          </a:prstGeom>
          <a:solidFill>
            <a:srgbClr val="1EB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221991"/>
            <a:ext cx="384048" cy="164592"/>
          </a:xfrm>
          <a:prstGeom prst="rect">
            <a:avLst/>
          </a:prstGeom>
          <a:noFill/>
        </p:spPr>
        <p:txBody>
          <a:bodyPr wrap="square" lIns="0" rIns="0" tIns="0" bIns="0" anchor="t">
            <a:normAutofit/>
          </a:bodyPr>
          <a:lstStyle/>
          <a:p>
            <a:pPr algn="ctr"/>
            <a:r>
              <a:rPr sz="780" b="1">
                <a:solidFill>
                  <a:srgbClr val="091827"/>
                </a:solidFill>
                <a:latin typeface="Aptos"/>
              </a:rPr>
              <a:t>01</a:t>
            </a:r>
          </a:p>
        </p:txBody>
      </p:sp>
      <p:sp>
        <p:nvSpPr>
          <p:cNvPr id="9" name="TextBox 8"/>
          <p:cNvSpPr txBox="1"/>
          <p:nvPr/>
        </p:nvSpPr>
        <p:spPr>
          <a:xfrm>
            <a:off x="1353312" y="2167128"/>
            <a:ext cx="1508760" cy="365760"/>
          </a:xfrm>
          <a:prstGeom prst="rect">
            <a:avLst/>
          </a:prstGeom>
          <a:noFill/>
        </p:spPr>
        <p:txBody>
          <a:bodyPr wrap="square" lIns="0" rIns="0" tIns="0" bIns="0" anchor="t">
            <a:normAutofit/>
          </a:bodyPr>
          <a:lstStyle/>
          <a:p>
            <a:pPr algn="l"/>
            <a:r>
              <a:rPr sz="1120" b="1">
                <a:solidFill>
                  <a:srgbClr val="F8FBFC"/>
                </a:solidFill>
                <a:latin typeface="Aptos"/>
              </a:rPr>
              <a:t>Flexible donations</a:t>
            </a:r>
          </a:p>
        </p:txBody>
      </p:sp>
      <p:sp>
        <p:nvSpPr>
          <p:cNvPr id="10" name="TextBox 9"/>
          <p:cNvSpPr txBox="1"/>
          <p:nvPr/>
        </p:nvSpPr>
        <p:spPr>
          <a:xfrm>
            <a:off x="841247" y="2715768"/>
            <a:ext cx="2011680" cy="566928"/>
          </a:xfrm>
          <a:prstGeom prst="rect">
            <a:avLst/>
          </a:prstGeom>
          <a:noFill/>
        </p:spPr>
        <p:txBody>
          <a:bodyPr wrap="square" lIns="0" rIns="0" tIns="0" bIns="0" anchor="t">
            <a:normAutofit/>
          </a:bodyPr>
          <a:lstStyle/>
          <a:p>
            <a:pPr algn="l"/>
            <a:r>
              <a:rPr sz="950" b="0">
                <a:solidFill>
                  <a:srgbClr val="AEC1CD"/>
                </a:solidFill>
                <a:latin typeface="Aptos"/>
              </a:rPr>
              <a:t>Money, food, clothes, books or medicines</a:t>
            </a:r>
          </a:p>
        </p:txBody>
      </p:sp>
      <p:sp>
        <p:nvSpPr>
          <p:cNvPr id="11" name="Rounded Rectangle 10"/>
          <p:cNvSpPr/>
          <p:nvPr/>
        </p:nvSpPr>
        <p:spPr>
          <a:xfrm>
            <a:off x="3493008" y="1965960"/>
            <a:ext cx="2487168" cy="1572768"/>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94176" y="2167128"/>
            <a:ext cx="384048" cy="384048"/>
          </a:xfrm>
          <a:prstGeom prst="ellipse">
            <a:avLst/>
          </a:prstGeom>
          <a:solidFill>
            <a:srgbClr val="F4B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94176" y="2221991"/>
            <a:ext cx="384048" cy="164592"/>
          </a:xfrm>
          <a:prstGeom prst="rect">
            <a:avLst/>
          </a:prstGeom>
          <a:noFill/>
        </p:spPr>
        <p:txBody>
          <a:bodyPr wrap="square" lIns="0" rIns="0" tIns="0" bIns="0" anchor="t">
            <a:normAutofit/>
          </a:bodyPr>
          <a:lstStyle/>
          <a:p>
            <a:pPr algn="ctr"/>
            <a:r>
              <a:rPr sz="780" b="1">
                <a:solidFill>
                  <a:srgbClr val="091827"/>
                </a:solidFill>
                <a:latin typeface="Aptos"/>
              </a:rPr>
              <a:t>02</a:t>
            </a:r>
          </a:p>
        </p:txBody>
      </p:sp>
      <p:sp>
        <p:nvSpPr>
          <p:cNvPr id="14" name="TextBox 13"/>
          <p:cNvSpPr txBox="1"/>
          <p:nvPr/>
        </p:nvSpPr>
        <p:spPr>
          <a:xfrm>
            <a:off x="4206240" y="2167128"/>
            <a:ext cx="1508760" cy="365760"/>
          </a:xfrm>
          <a:prstGeom prst="rect">
            <a:avLst/>
          </a:prstGeom>
          <a:noFill/>
        </p:spPr>
        <p:txBody>
          <a:bodyPr wrap="square" lIns="0" rIns="0" tIns="0" bIns="0" anchor="t">
            <a:normAutofit/>
          </a:bodyPr>
          <a:lstStyle/>
          <a:p>
            <a:pPr algn="l"/>
            <a:r>
              <a:rPr sz="1120" b="1">
                <a:solidFill>
                  <a:srgbClr val="F8FBFC"/>
                </a:solidFill>
                <a:latin typeface="Aptos"/>
              </a:rPr>
              <a:t>Verified local NGOs</a:t>
            </a:r>
          </a:p>
        </p:txBody>
      </p:sp>
      <p:sp>
        <p:nvSpPr>
          <p:cNvPr id="15" name="TextBox 14"/>
          <p:cNvSpPr txBox="1"/>
          <p:nvPr/>
        </p:nvSpPr>
        <p:spPr>
          <a:xfrm>
            <a:off x="3694176" y="2715768"/>
            <a:ext cx="2011680" cy="566928"/>
          </a:xfrm>
          <a:prstGeom prst="rect">
            <a:avLst/>
          </a:prstGeom>
          <a:noFill/>
        </p:spPr>
        <p:txBody>
          <a:bodyPr wrap="square" lIns="0" rIns="0" tIns="0" bIns="0" anchor="t">
            <a:normAutofit/>
          </a:bodyPr>
          <a:lstStyle/>
          <a:p>
            <a:pPr algn="l"/>
            <a:r>
              <a:rPr sz="950" b="0">
                <a:solidFill>
                  <a:srgbClr val="AEC1CD"/>
                </a:solidFill>
                <a:latin typeface="Aptos"/>
              </a:rPr>
              <a:t>A trust signal before a donor gives</a:t>
            </a:r>
          </a:p>
        </p:txBody>
      </p:sp>
      <p:sp>
        <p:nvSpPr>
          <p:cNvPr id="16" name="Rounded Rectangle 15"/>
          <p:cNvSpPr/>
          <p:nvPr/>
        </p:nvSpPr>
        <p:spPr>
          <a:xfrm>
            <a:off x="6345936" y="1965960"/>
            <a:ext cx="2487168" cy="1572768"/>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47104" y="2167128"/>
            <a:ext cx="384048" cy="384048"/>
          </a:xfrm>
          <a:prstGeom prst="ellipse">
            <a:avLst/>
          </a:prstGeom>
          <a:solidFill>
            <a:srgbClr val="F570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7104" y="2221991"/>
            <a:ext cx="384048" cy="164592"/>
          </a:xfrm>
          <a:prstGeom prst="rect">
            <a:avLst/>
          </a:prstGeom>
          <a:noFill/>
        </p:spPr>
        <p:txBody>
          <a:bodyPr wrap="square" lIns="0" rIns="0" tIns="0" bIns="0" anchor="t">
            <a:normAutofit/>
          </a:bodyPr>
          <a:lstStyle/>
          <a:p>
            <a:pPr algn="ctr"/>
            <a:r>
              <a:rPr sz="780" b="1">
                <a:solidFill>
                  <a:srgbClr val="091827"/>
                </a:solidFill>
                <a:latin typeface="Aptos"/>
              </a:rPr>
              <a:t>03</a:t>
            </a:r>
          </a:p>
        </p:txBody>
      </p:sp>
      <p:sp>
        <p:nvSpPr>
          <p:cNvPr id="19" name="TextBox 18"/>
          <p:cNvSpPr txBox="1"/>
          <p:nvPr/>
        </p:nvSpPr>
        <p:spPr>
          <a:xfrm>
            <a:off x="7059168" y="2167128"/>
            <a:ext cx="1508760" cy="365760"/>
          </a:xfrm>
          <a:prstGeom prst="rect">
            <a:avLst/>
          </a:prstGeom>
          <a:noFill/>
        </p:spPr>
        <p:txBody>
          <a:bodyPr wrap="square" lIns="0" rIns="0" tIns="0" bIns="0" anchor="t">
            <a:normAutofit/>
          </a:bodyPr>
          <a:lstStyle/>
          <a:p>
            <a:pPr algn="l"/>
            <a:r>
              <a:rPr sz="1120" b="1">
                <a:solidFill>
                  <a:srgbClr val="F8FBFC"/>
                </a:solidFill>
                <a:latin typeface="Aptos"/>
              </a:rPr>
              <a:t>Unique Donation ID</a:t>
            </a:r>
          </a:p>
        </p:txBody>
      </p:sp>
      <p:sp>
        <p:nvSpPr>
          <p:cNvPr id="20" name="TextBox 19"/>
          <p:cNvSpPr txBox="1"/>
          <p:nvPr/>
        </p:nvSpPr>
        <p:spPr>
          <a:xfrm>
            <a:off x="6547104" y="2715768"/>
            <a:ext cx="2011680" cy="566928"/>
          </a:xfrm>
          <a:prstGeom prst="rect">
            <a:avLst/>
          </a:prstGeom>
          <a:noFill/>
        </p:spPr>
        <p:txBody>
          <a:bodyPr wrap="square" lIns="0" rIns="0" tIns="0" bIns="0" anchor="t">
            <a:normAutofit/>
          </a:bodyPr>
          <a:lstStyle/>
          <a:p>
            <a:pPr algn="l"/>
            <a:r>
              <a:rPr sz="950" b="0">
                <a:solidFill>
                  <a:srgbClr val="AEC1CD"/>
                </a:solidFill>
                <a:latin typeface="Aptos"/>
              </a:rPr>
              <a:t>Every gift gets a trackable identity</a:t>
            </a:r>
          </a:p>
        </p:txBody>
      </p:sp>
      <p:sp>
        <p:nvSpPr>
          <p:cNvPr id="21" name="Rounded Rectangle 20"/>
          <p:cNvSpPr/>
          <p:nvPr/>
        </p:nvSpPr>
        <p:spPr>
          <a:xfrm>
            <a:off x="9198863" y="1965960"/>
            <a:ext cx="2487168" cy="1572768"/>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400032" y="2167128"/>
            <a:ext cx="384048" cy="384048"/>
          </a:xfrm>
          <a:prstGeom prst="ellipse">
            <a:avLst/>
          </a:prstGeom>
          <a:solidFill>
            <a:srgbClr val="1EB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00032" y="2221991"/>
            <a:ext cx="384048" cy="164592"/>
          </a:xfrm>
          <a:prstGeom prst="rect">
            <a:avLst/>
          </a:prstGeom>
          <a:noFill/>
        </p:spPr>
        <p:txBody>
          <a:bodyPr wrap="square" lIns="0" rIns="0" tIns="0" bIns="0" anchor="t">
            <a:normAutofit/>
          </a:bodyPr>
          <a:lstStyle/>
          <a:p>
            <a:pPr algn="ctr"/>
            <a:r>
              <a:rPr sz="780" b="1">
                <a:solidFill>
                  <a:srgbClr val="091827"/>
                </a:solidFill>
                <a:latin typeface="Aptos"/>
              </a:rPr>
              <a:t>04</a:t>
            </a:r>
          </a:p>
        </p:txBody>
      </p:sp>
      <p:sp>
        <p:nvSpPr>
          <p:cNvPr id="24" name="TextBox 23"/>
          <p:cNvSpPr txBox="1"/>
          <p:nvPr/>
        </p:nvSpPr>
        <p:spPr>
          <a:xfrm>
            <a:off x="9912095" y="2167128"/>
            <a:ext cx="1508760" cy="365760"/>
          </a:xfrm>
          <a:prstGeom prst="rect">
            <a:avLst/>
          </a:prstGeom>
          <a:noFill/>
        </p:spPr>
        <p:txBody>
          <a:bodyPr wrap="square" lIns="0" rIns="0" tIns="0" bIns="0" anchor="t">
            <a:normAutofit/>
          </a:bodyPr>
          <a:lstStyle/>
          <a:p>
            <a:pPr algn="l"/>
            <a:r>
              <a:rPr sz="1120" b="1">
                <a:solidFill>
                  <a:srgbClr val="F8FBFC"/>
                </a:solidFill>
                <a:latin typeface="Aptos"/>
              </a:rPr>
              <a:t>4-stage live tracking</a:t>
            </a:r>
          </a:p>
        </p:txBody>
      </p:sp>
      <p:sp>
        <p:nvSpPr>
          <p:cNvPr id="25" name="TextBox 24"/>
          <p:cNvSpPr txBox="1"/>
          <p:nvPr/>
        </p:nvSpPr>
        <p:spPr>
          <a:xfrm>
            <a:off x="9400032" y="2715768"/>
            <a:ext cx="2011680" cy="566928"/>
          </a:xfrm>
          <a:prstGeom prst="rect">
            <a:avLst/>
          </a:prstGeom>
          <a:noFill/>
        </p:spPr>
        <p:txBody>
          <a:bodyPr wrap="square" lIns="0" rIns="0" tIns="0" bIns="0" anchor="t">
            <a:normAutofit/>
          </a:bodyPr>
          <a:lstStyle/>
          <a:p>
            <a:pPr algn="l"/>
            <a:r>
              <a:rPr sz="950" b="0">
                <a:solidFill>
                  <a:srgbClr val="AEC1CD"/>
                </a:solidFill>
                <a:latin typeface="Aptos"/>
              </a:rPr>
              <a:t>Simple progress from donation to proof</a:t>
            </a:r>
          </a:p>
        </p:txBody>
      </p:sp>
      <p:sp>
        <p:nvSpPr>
          <p:cNvPr id="26" name="Rounded Rectangle 25"/>
          <p:cNvSpPr/>
          <p:nvPr/>
        </p:nvSpPr>
        <p:spPr>
          <a:xfrm>
            <a:off x="640080" y="3867912"/>
            <a:ext cx="2487168" cy="1572768"/>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41247" y="4069080"/>
            <a:ext cx="384048" cy="384048"/>
          </a:xfrm>
          <a:prstGeom prst="ellipse">
            <a:avLst/>
          </a:prstGeom>
          <a:solidFill>
            <a:srgbClr val="F4B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7" y="4123944"/>
            <a:ext cx="384048" cy="164592"/>
          </a:xfrm>
          <a:prstGeom prst="rect">
            <a:avLst/>
          </a:prstGeom>
          <a:noFill/>
        </p:spPr>
        <p:txBody>
          <a:bodyPr wrap="square" lIns="0" rIns="0" tIns="0" bIns="0" anchor="t">
            <a:normAutofit/>
          </a:bodyPr>
          <a:lstStyle/>
          <a:p>
            <a:pPr algn="ctr"/>
            <a:r>
              <a:rPr sz="780" b="1">
                <a:solidFill>
                  <a:srgbClr val="091827"/>
                </a:solidFill>
                <a:latin typeface="Aptos"/>
              </a:rPr>
              <a:t>05</a:t>
            </a:r>
          </a:p>
        </p:txBody>
      </p:sp>
      <p:sp>
        <p:nvSpPr>
          <p:cNvPr id="29" name="TextBox 28"/>
          <p:cNvSpPr txBox="1"/>
          <p:nvPr/>
        </p:nvSpPr>
        <p:spPr>
          <a:xfrm>
            <a:off x="1353312" y="4069080"/>
            <a:ext cx="1508760" cy="365760"/>
          </a:xfrm>
          <a:prstGeom prst="rect">
            <a:avLst/>
          </a:prstGeom>
          <a:noFill/>
        </p:spPr>
        <p:txBody>
          <a:bodyPr wrap="square" lIns="0" rIns="0" tIns="0" bIns="0" anchor="t">
            <a:normAutofit/>
          </a:bodyPr>
          <a:lstStyle/>
          <a:p>
            <a:pPr algn="l"/>
            <a:r>
              <a:rPr sz="1120" b="1">
                <a:solidFill>
                  <a:srgbClr val="F8FBFC"/>
                </a:solidFill>
                <a:latin typeface="Aptos"/>
              </a:rPr>
              <a:t>Delivery proof</a:t>
            </a:r>
          </a:p>
        </p:txBody>
      </p:sp>
      <p:sp>
        <p:nvSpPr>
          <p:cNvPr id="30" name="TextBox 29"/>
          <p:cNvSpPr txBox="1"/>
          <p:nvPr/>
        </p:nvSpPr>
        <p:spPr>
          <a:xfrm>
            <a:off x="841247" y="4617720"/>
            <a:ext cx="2011680" cy="566928"/>
          </a:xfrm>
          <a:prstGeom prst="rect">
            <a:avLst/>
          </a:prstGeom>
          <a:noFill/>
        </p:spPr>
        <p:txBody>
          <a:bodyPr wrap="square" lIns="0" rIns="0" tIns="0" bIns="0" anchor="t">
            <a:normAutofit/>
          </a:bodyPr>
          <a:lstStyle/>
          <a:p>
            <a:pPr algn="l"/>
            <a:r>
              <a:rPr sz="950" b="0">
                <a:solidFill>
                  <a:srgbClr val="AEC1CD"/>
                </a:solidFill>
                <a:latin typeface="Aptos"/>
              </a:rPr>
              <a:t>Photos + receipt support the result</a:t>
            </a:r>
          </a:p>
        </p:txBody>
      </p:sp>
      <p:sp>
        <p:nvSpPr>
          <p:cNvPr id="31" name="Rounded Rectangle 30"/>
          <p:cNvSpPr/>
          <p:nvPr/>
        </p:nvSpPr>
        <p:spPr>
          <a:xfrm>
            <a:off x="3493008" y="3867912"/>
            <a:ext cx="2487168" cy="1572768"/>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694176" y="4069080"/>
            <a:ext cx="384048" cy="384048"/>
          </a:xfrm>
          <a:prstGeom prst="ellipse">
            <a:avLst/>
          </a:prstGeom>
          <a:solidFill>
            <a:srgbClr val="F570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94176" y="4123944"/>
            <a:ext cx="384048" cy="164592"/>
          </a:xfrm>
          <a:prstGeom prst="rect">
            <a:avLst/>
          </a:prstGeom>
          <a:noFill/>
        </p:spPr>
        <p:txBody>
          <a:bodyPr wrap="square" lIns="0" rIns="0" tIns="0" bIns="0" anchor="t">
            <a:normAutofit/>
          </a:bodyPr>
          <a:lstStyle/>
          <a:p>
            <a:pPr algn="ctr"/>
            <a:r>
              <a:rPr sz="780" b="1">
                <a:solidFill>
                  <a:srgbClr val="091827"/>
                </a:solidFill>
                <a:latin typeface="Aptos"/>
              </a:rPr>
              <a:t>06</a:t>
            </a:r>
          </a:p>
        </p:txBody>
      </p:sp>
      <p:sp>
        <p:nvSpPr>
          <p:cNvPr id="34" name="TextBox 33"/>
          <p:cNvSpPr txBox="1"/>
          <p:nvPr/>
        </p:nvSpPr>
        <p:spPr>
          <a:xfrm>
            <a:off x="4206240" y="4069080"/>
            <a:ext cx="1508760" cy="365760"/>
          </a:xfrm>
          <a:prstGeom prst="rect">
            <a:avLst/>
          </a:prstGeom>
          <a:noFill/>
        </p:spPr>
        <p:txBody>
          <a:bodyPr wrap="square" lIns="0" rIns="0" tIns="0" bIns="0" anchor="t">
            <a:normAutofit/>
          </a:bodyPr>
          <a:lstStyle/>
          <a:p>
            <a:pPr algn="l"/>
            <a:r>
              <a:rPr sz="1120" b="1">
                <a:solidFill>
                  <a:srgbClr val="F8FBFC"/>
                </a:solidFill>
                <a:latin typeface="Aptos"/>
              </a:rPr>
              <a:t>Public transparency</a:t>
            </a:r>
          </a:p>
        </p:txBody>
      </p:sp>
      <p:sp>
        <p:nvSpPr>
          <p:cNvPr id="35" name="TextBox 34"/>
          <p:cNvSpPr txBox="1"/>
          <p:nvPr/>
        </p:nvSpPr>
        <p:spPr>
          <a:xfrm>
            <a:off x="3694176" y="4617720"/>
            <a:ext cx="2011680" cy="566928"/>
          </a:xfrm>
          <a:prstGeom prst="rect">
            <a:avLst/>
          </a:prstGeom>
          <a:noFill/>
        </p:spPr>
        <p:txBody>
          <a:bodyPr wrap="square" lIns="0" rIns="0" tIns="0" bIns="0" anchor="t">
            <a:normAutofit/>
          </a:bodyPr>
          <a:lstStyle/>
          <a:p>
            <a:pPr algn="l"/>
            <a:r>
              <a:rPr sz="950" b="0">
                <a:solidFill>
                  <a:srgbClr val="AEC1CD"/>
                </a:solidFill>
                <a:latin typeface="Aptos"/>
              </a:rPr>
              <a:t>A visible table for accountability</a:t>
            </a:r>
          </a:p>
        </p:txBody>
      </p:sp>
      <p:sp>
        <p:nvSpPr>
          <p:cNvPr id="36" name="Rounded Rectangle 35"/>
          <p:cNvSpPr/>
          <p:nvPr/>
        </p:nvSpPr>
        <p:spPr>
          <a:xfrm>
            <a:off x="6345936" y="3867912"/>
            <a:ext cx="2487168" cy="1572768"/>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547104" y="4069080"/>
            <a:ext cx="384048" cy="384048"/>
          </a:xfrm>
          <a:prstGeom prst="ellipse">
            <a:avLst/>
          </a:prstGeom>
          <a:solidFill>
            <a:srgbClr val="1EB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47104" y="4123944"/>
            <a:ext cx="384048" cy="164592"/>
          </a:xfrm>
          <a:prstGeom prst="rect">
            <a:avLst/>
          </a:prstGeom>
          <a:noFill/>
        </p:spPr>
        <p:txBody>
          <a:bodyPr wrap="square" lIns="0" rIns="0" tIns="0" bIns="0" anchor="t">
            <a:normAutofit/>
          </a:bodyPr>
          <a:lstStyle/>
          <a:p>
            <a:pPr algn="ctr"/>
            <a:r>
              <a:rPr sz="780" b="1">
                <a:solidFill>
                  <a:srgbClr val="091827"/>
                </a:solidFill>
                <a:latin typeface="Aptos"/>
              </a:rPr>
              <a:t>07</a:t>
            </a:r>
          </a:p>
        </p:txBody>
      </p:sp>
      <p:sp>
        <p:nvSpPr>
          <p:cNvPr id="39" name="TextBox 38"/>
          <p:cNvSpPr txBox="1"/>
          <p:nvPr/>
        </p:nvSpPr>
        <p:spPr>
          <a:xfrm>
            <a:off x="7059168" y="4069080"/>
            <a:ext cx="1508760" cy="365760"/>
          </a:xfrm>
          <a:prstGeom prst="rect">
            <a:avLst/>
          </a:prstGeom>
          <a:noFill/>
        </p:spPr>
        <p:txBody>
          <a:bodyPr wrap="square" lIns="0" rIns="0" tIns="0" bIns="0" anchor="t">
            <a:normAutofit/>
          </a:bodyPr>
          <a:lstStyle/>
          <a:p>
            <a:pPr algn="l"/>
            <a:r>
              <a:rPr sz="1120" b="1">
                <a:solidFill>
                  <a:srgbClr val="F8FBFC"/>
                </a:solidFill>
                <a:latin typeface="Aptos"/>
              </a:rPr>
              <a:t>NGO dashboard</a:t>
            </a:r>
          </a:p>
        </p:txBody>
      </p:sp>
      <p:sp>
        <p:nvSpPr>
          <p:cNvPr id="40" name="TextBox 39"/>
          <p:cNvSpPr txBox="1"/>
          <p:nvPr/>
        </p:nvSpPr>
        <p:spPr>
          <a:xfrm>
            <a:off x="6547104" y="4617720"/>
            <a:ext cx="2011680" cy="566928"/>
          </a:xfrm>
          <a:prstGeom prst="rect">
            <a:avLst/>
          </a:prstGeom>
          <a:noFill/>
        </p:spPr>
        <p:txBody>
          <a:bodyPr wrap="square" lIns="0" rIns="0" tIns="0" bIns="0" anchor="t">
            <a:normAutofit/>
          </a:bodyPr>
          <a:lstStyle/>
          <a:p>
            <a:pPr algn="l"/>
            <a:r>
              <a:rPr sz="950" b="0">
                <a:solidFill>
                  <a:srgbClr val="AEC1CD"/>
                </a:solidFill>
                <a:latin typeface="Aptos"/>
              </a:rPr>
              <a:t>Manage gifts and add proof</a:t>
            </a:r>
          </a:p>
        </p:txBody>
      </p:sp>
      <p:sp>
        <p:nvSpPr>
          <p:cNvPr id="41" name="Rounded Rectangle 40"/>
          <p:cNvSpPr/>
          <p:nvPr/>
        </p:nvSpPr>
        <p:spPr>
          <a:xfrm>
            <a:off x="9198863" y="3867912"/>
            <a:ext cx="2487168" cy="1572768"/>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400032" y="4069080"/>
            <a:ext cx="384048" cy="384048"/>
          </a:xfrm>
          <a:prstGeom prst="ellipse">
            <a:avLst/>
          </a:prstGeom>
          <a:solidFill>
            <a:srgbClr val="F4B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00032" y="4123944"/>
            <a:ext cx="384048" cy="164592"/>
          </a:xfrm>
          <a:prstGeom prst="rect">
            <a:avLst/>
          </a:prstGeom>
          <a:noFill/>
        </p:spPr>
        <p:txBody>
          <a:bodyPr wrap="square" lIns="0" rIns="0" tIns="0" bIns="0" anchor="t">
            <a:normAutofit/>
          </a:bodyPr>
          <a:lstStyle/>
          <a:p>
            <a:pPr algn="ctr"/>
            <a:r>
              <a:rPr sz="780" b="1">
                <a:solidFill>
                  <a:srgbClr val="091827"/>
                </a:solidFill>
                <a:latin typeface="Aptos"/>
              </a:rPr>
              <a:t>08</a:t>
            </a:r>
          </a:p>
        </p:txBody>
      </p:sp>
      <p:sp>
        <p:nvSpPr>
          <p:cNvPr id="44" name="TextBox 43"/>
          <p:cNvSpPr txBox="1"/>
          <p:nvPr/>
        </p:nvSpPr>
        <p:spPr>
          <a:xfrm>
            <a:off x="9912095" y="4069080"/>
            <a:ext cx="1508760" cy="365760"/>
          </a:xfrm>
          <a:prstGeom prst="rect">
            <a:avLst/>
          </a:prstGeom>
          <a:noFill/>
        </p:spPr>
        <p:txBody>
          <a:bodyPr wrap="square" lIns="0" rIns="0" tIns="0" bIns="0" anchor="t">
            <a:normAutofit/>
          </a:bodyPr>
          <a:lstStyle/>
          <a:p>
            <a:pPr algn="l"/>
            <a:r>
              <a:rPr sz="1120" b="1">
                <a:solidFill>
                  <a:srgbClr val="F8FBFC"/>
                </a:solidFill>
                <a:latin typeface="Aptos"/>
              </a:rPr>
              <a:t>Privacy first</a:t>
            </a:r>
          </a:p>
        </p:txBody>
      </p:sp>
      <p:sp>
        <p:nvSpPr>
          <p:cNvPr id="45" name="TextBox 44"/>
          <p:cNvSpPr txBox="1"/>
          <p:nvPr/>
        </p:nvSpPr>
        <p:spPr>
          <a:xfrm>
            <a:off x="9400032" y="4617720"/>
            <a:ext cx="2011680" cy="566928"/>
          </a:xfrm>
          <a:prstGeom prst="rect">
            <a:avLst/>
          </a:prstGeom>
          <a:noFill/>
        </p:spPr>
        <p:txBody>
          <a:bodyPr wrap="square" lIns="0" rIns="0" tIns="0" bIns="0" anchor="t">
            <a:normAutofit/>
          </a:bodyPr>
          <a:lstStyle/>
          <a:p>
            <a:pPr algn="l"/>
            <a:r>
              <a:rPr sz="950" b="0">
                <a:solidFill>
                  <a:srgbClr val="AEC1CD"/>
                </a:solidFill>
                <a:latin typeface="Aptos"/>
              </a:rPr>
              <a:t>Anonymous beneficiary IDs</a:t>
            </a:r>
          </a:p>
        </p:txBody>
      </p:sp>
      <p:sp>
        <p:nvSpPr>
          <p:cNvPr id="46" name="TextBox 45"/>
          <p:cNvSpPr txBox="1"/>
          <p:nvPr/>
        </p:nvSpPr>
        <p:spPr>
          <a:xfrm>
            <a:off x="640080" y="6547104"/>
            <a:ext cx="4572000" cy="182880"/>
          </a:xfrm>
          <a:prstGeom prst="rect">
            <a:avLst/>
          </a:prstGeom>
          <a:noFill/>
        </p:spPr>
        <p:txBody>
          <a:bodyPr wrap="square" lIns="0" rIns="0" tIns="0" bIns="0" anchor="t">
            <a:normAutofit/>
          </a:bodyPr>
          <a:lstStyle/>
          <a:p>
            <a:pPr algn="l"/>
            <a:r>
              <a:rPr sz="850" b="1">
                <a:solidFill>
                  <a:srgbClr val="5D7989"/>
                </a:solidFill>
                <a:latin typeface="Aptos"/>
              </a:rPr>
              <a:t>DONATECONNECT  •  HACKFORGE IDEATHON</a:t>
            </a:r>
          </a:p>
        </p:txBody>
      </p:sp>
      <p:sp>
        <p:nvSpPr>
          <p:cNvPr id="47" name="TextBox 46"/>
          <p:cNvSpPr txBox="1"/>
          <p:nvPr/>
        </p:nvSpPr>
        <p:spPr>
          <a:xfrm>
            <a:off x="10972800" y="6519672"/>
            <a:ext cx="502920" cy="201168"/>
          </a:xfrm>
          <a:prstGeom prst="rect">
            <a:avLst/>
          </a:prstGeom>
          <a:noFill/>
        </p:spPr>
        <p:txBody>
          <a:bodyPr wrap="square" lIns="0" rIns="0" tIns="0" bIns="0" anchor="t">
            <a:normAutofit/>
          </a:bodyPr>
          <a:lstStyle/>
          <a:p>
            <a:pPr algn="r"/>
            <a:r>
              <a:rPr sz="900" b="1">
                <a:solidFill>
                  <a:srgbClr val="5D7989"/>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3474720" cy="256032"/>
          </a:xfrm>
          <a:prstGeom prst="rect">
            <a:avLst/>
          </a:prstGeom>
          <a:noFill/>
        </p:spPr>
        <p:txBody>
          <a:bodyPr wrap="square" lIns="0" rIns="0" tIns="0" bIns="0" anchor="t">
            <a:normAutofit/>
          </a:bodyPr>
          <a:lstStyle/>
          <a:p>
            <a:pPr algn="l"/>
            <a:r>
              <a:rPr sz="1000" b="1">
                <a:solidFill>
                  <a:srgbClr val="13806F"/>
                </a:solidFill>
                <a:latin typeface="Aptos"/>
              </a:rPr>
              <a:t>06 • SYSTEM DESIGN</a:t>
            </a:r>
          </a:p>
        </p:txBody>
      </p:sp>
      <p:sp>
        <p:nvSpPr>
          <p:cNvPr id="4" name="TextBox 3"/>
          <p:cNvSpPr txBox="1"/>
          <p:nvPr/>
        </p:nvSpPr>
        <p:spPr>
          <a:xfrm>
            <a:off x="640080" y="713232"/>
            <a:ext cx="10789920" cy="566928"/>
          </a:xfrm>
          <a:prstGeom prst="rect">
            <a:avLst/>
          </a:prstGeom>
          <a:noFill/>
        </p:spPr>
        <p:txBody>
          <a:bodyPr wrap="square" lIns="0" rIns="0" tIns="0" bIns="0" anchor="t">
            <a:normAutofit/>
          </a:bodyPr>
          <a:lstStyle/>
          <a:p>
            <a:pPr algn="l"/>
            <a:r>
              <a:rPr sz="2700" b="1">
                <a:solidFill>
                  <a:srgbClr val="142632"/>
                </a:solidFill>
                <a:latin typeface="Aptos"/>
              </a:rPr>
              <a:t>From donor action to proof: a modular backend.</a:t>
            </a:r>
          </a:p>
        </p:txBody>
      </p:sp>
      <p:sp>
        <p:nvSpPr>
          <p:cNvPr id="5" name="TextBox 4"/>
          <p:cNvSpPr txBox="1"/>
          <p:nvPr/>
        </p:nvSpPr>
        <p:spPr>
          <a:xfrm>
            <a:off x="640080" y="1307592"/>
            <a:ext cx="10515600" cy="384048"/>
          </a:xfrm>
          <a:prstGeom prst="rect">
            <a:avLst/>
          </a:prstGeom>
          <a:noFill/>
        </p:spPr>
        <p:txBody>
          <a:bodyPr wrap="square" lIns="0" rIns="0" tIns="0" bIns="0" anchor="t">
            <a:normAutofit/>
          </a:bodyPr>
          <a:lstStyle/>
          <a:p>
            <a:pPr algn="l"/>
            <a:r>
              <a:rPr sz="1250" b="0">
                <a:solidFill>
                  <a:srgbClr val="5C707E"/>
                </a:solidFill>
                <a:latin typeface="Aptos"/>
              </a:rPr>
              <a:t>The front end is already built; the next step is the API + data layer.</a:t>
            </a:r>
          </a:p>
        </p:txBody>
      </p:sp>
      <p:sp>
        <p:nvSpPr>
          <p:cNvPr id="6" name="Rounded Rectangle 5"/>
          <p:cNvSpPr/>
          <p:nvPr/>
        </p:nvSpPr>
        <p:spPr>
          <a:xfrm>
            <a:off x="640080" y="1874519"/>
            <a:ext cx="2743200" cy="3611880"/>
          </a:xfrm>
          <a:prstGeom prst="roundRect">
            <a:avLst/>
          </a:prstGeom>
          <a:solidFill>
            <a:srgbClr val="F8FBFC"/>
          </a:solidFill>
          <a:ln w="1270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76272"/>
            <a:ext cx="2194560" cy="228600"/>
          </a:xfrm>
          <a:prstGeom prst="rect">
            <a:avLst/>
          </a:prstGeom>
          <a:noFill/>
        </p:spPr>
        <p:txBody>
          <a:bodyPr wrap="square" lIns="0" rIns="0" tIns="0" bIns="0" anchor="t">
            <a:normAutofit/>
          </a:bodyPr>
          <a:lstStyle/>
          <a:p>
            <a:pPr algn="l"/>
            <a:r>
              <a:rPr sz="950" b="1">
                <a:solidFill>
                  <a:srgbClr val="13806F"/>
                </a:solidFill>
                <a:latin typeface="Aptos"/>
              </a:rPr>
              <a:t>USER LAYER</a:t>
            </a:r>
          </a:p>
        </p:txBody>
      </p:sp>
      <p:sp>
        <p:nvSpPr>
          <p:cNvPr id="8" name="Rounded Rectangle 7"/>
          <p:cNvSpPr/>
          <p:nvPr/>
        </p:nvSpPr>
        <p:spPr>
          <a:xfrm>
            <a:off x="914400" y="2697480"/>
            <a:ext cx="2148840" cy="566928"/>
          </a:xfrm>
          <a:prstGeom prst="roundRect">
            <a:avLst/>
          </a:prstGeom>
          <a:solidFill>
            <a:srgbClr val="F2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807208"/>
            <a:ext cx="731520" cy="182880"/>
          </a:xfrm>
          <a:prstGeom prst="rect">
            <a:avLst/>
          </a:prstGeom>
          <a:noFill/>
        </p:spPr>
        <p:txBody>
          <a:bodyPr wrap="square" lIns="0" rIns="0" tIns="0" bIns="0" anchor="t">
            <a:normAutofit/>
          </a:bodyPr>
          <a:lstStyle/>
          <a:p>
            <a:pPr algn="l"/>
            <a:r>
              <a:rPr sz="850" b="1">
                <a:solidFill>
                  <a:srgbClr val="13806F"/>
                </a:solidFill>
                <a:latin typeface="Aptos"/>
              </a:rPr>
              <a:t>DONOR</a:t>
            </a:r>
          </a:p>
        </p:txBody>
      </p:sp>
      <p:sp>
        <p:nvSpPr>
          <p:cNvPr id="10" name="TextBox 9"/>
          <p:cNvSpPr txBox="1"/>
          <p:nvPr/>
        </p:nvSpPr>
        <p:spPr>
          <a:xfrm>
            <a:off x="1755648" y="2798064"/>
            <a:ext cx="1097280" cy="201168"/>
          </a:xfrm>
          <a:prstGeom prst="rect">
            <a:avLst/>
          </a:prstGeom>
          <a:noFill/>
        </p:spPr>
        <p:txBody>
          <a:bodyPr wrap="square" lIns="0" rIns="0" tIns="0" bIns="0" anchor="t">
            <a:normAutofit/>
          </a:bodyPr>
          <a:lstStyle/>
          <a:p>
            <a:pPr algn="l"/>
            <a:r>
              <a:rPr sz="919" b="1">
                <a:solidFill>
                  <a:srgbClr val="142632"/>
                </a:solidFill>
                <a:latin typeface="Aptos"/>
              </a:rPr>
              <a:t>Donate + Track</a:t>
            </a:r>
          </a:p>
        </p:txBody>
      </p:sp>
      <p:sp>
        <p:nvSpPr>
          <p:cNvPr id="11" name="Rounded Rectangle 10"/>
          <p:cNvSpPr/>
          <p:nvPr/>
        </p:nvSpPr>
        <p:spPr>
          <a:xfrm>
            <a:off x="914400" y="3502152"/>
            <a:ext cx="2148840" cy="566928"/>
          </a:xfrm>
          <a:prstGeom prst="roundRect">
            <a:avLst/>
          </a:prstGeom>
          <a:solidFill>
            <a:srgbClr val="F2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611880"/>
            <a:ext cx="731520" cy="182880"/>
          </a:xfrm>
          <a:prstGeom prst="rect">
            <a:avLst/>
          </a:prstGeom>
          <a:noFill/>
        </p:spPr>
        <p:txBody>
          <a:bodyPr wrap="square" lIns="0" rIns="0" tIns="0" bIns="0" anchor="t">
            <a:normAutofit/>
          </a:bodyPr>
          <a:lstStyle/>
          <a:p>
            <a:pPr algn="l"/>
            <a:r>
              <a:rPr sz="850" b="1">
                <a:solidFill>
                  <a:srgbClr val="13806F"/>
                </a:solidFill>
                <a:latin typeface="Aptos"/>
              </a:rPr>
              <a:t>NGO</a:t>
            </a:r>
          </a:p>
        </p:txBody>
      </p:sp>
      <p:sp>
        <p:nvSpPr>
          <p:cNvPr id="13" name="TextBox 12"/>
          <p:cNvSpPr txBox="1"/>
          <p:nvPr/>
        </p:nvSpPr>
        <p:spPr>
          <a:xfrm>
            <a:off x="1755648" y="3602736"/>
            <a:ext cx="1097280" cy="201168"/>
          </a:xfrm>
          <a:prstGeom prst="rect">
            <a:avLst/>
          </a:prstGeom>
          <a:noFill/>
        </p:spPr>
        <p:txBody>
          <a:bodyPr wrap="square" lIns="0" rIns="0" tIns="0" bIns="0" anchor="t">
            <a:normAutofit/>
          </a:bodyPr>
          <a:lstStyle/>
          <a:p>
            <a:pPr algn="l"/>
            <a:r>
              <a:rPr sz="919" b="1">
                <a:solidFill>
                  <a:srgbClr val="142632"/>
                </a:solidFill>
                <a:latin typeface="Aptos"/>
              </a:rPr>
              <a:t>Manage + Upload</a:t>
            </a:r>
          </a:p>
        </p:txBody>
      </p:sp>
      <p:sp>
        <p:nvSpPr>
          <p:cNvPr id="14" name="Rounded Rectangle 13"/>
          <p:cNvSpPr/>
          <p:nvPr/>
        </p:nvSpPr>
        <p:spPr>
          <a:xfrm>
            <a:off x="914400" y="4306824"/>
            <a:ext cx="2148840" cy="566928"/>
          </a:xfrm>
          <a:prstGeom prst="roundRect">
            <a:avLst/>
          </a:prstGeom>
          <a:solidFill>
            <a:srgbClr val="F2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416552"/>
            <a:ext cx="731520" cy="182880"/>
          </a:xfrm>
          <a:prstGeom prst="rect">
            <a:avLst/>
          </a:prstGeom>
          <a:noFill/>
        </p:spPr>
        <p:txBody>
          <a:bodyPr wrap="square" lIns="0" rIns="0" tIns="0" bIns="0" anchor="t">
            <a:normAutofit/>
          </a:bodyPr>
          <a:lstStyle/>
          <a:p>
            <a:pPr algn="l"/>
            <a:r>
              <a:rPr sz="850" b="1">
                <a:solidFill>
                  <a:srgbClr val="13806F"/>
                </a:solidFill>
                <a:latin typeface="Aptos"/>
              </a:rPr>
              <a:t>ADMIN</a:t>
            </a:r>
          </a:p>
        </p:txBody>
      </p:sp>
      <p:sp>
        <p:nvSpPr>
          <p:cNvPr id="16" name="TextBox 15"/>
          <p:cNvSpPr txBox="1"/>
          <p:nvPr/>
        </p:nvSpPr>
        <p:spPr>
          <a:xfrm>
            <a:off x="1755648" y="4407408"/>
            <a:ext cx="1097280" cy="201168"/>
          </a:xfrm>
          <a:prstGeom prst="rect">
            <a:avLst/>
          </a:prstGeom>
          <a:noFill/>
        </p:spPr>
        <p:txBody>
          <a:bodyPr wrap="square" lIns="0" rIns="0" tIns="0" bIns="0" anchor="t">
            <a:normAutofit/>
          </a:bodyPr>
          <a:lstStyle/>
          <a:p>
            <a:pPr algn="l"/>
            <a:r>
              <a:rPr sz="919" b="1">
                <a:solidFill>
                  <a:srgbClr val="142632"/>
                </a:solidFill>
                <a:latin typeface="Aptos"/>
              </a:rPr>
              <a:t>Verify + Review</a:t>
            </a:r>
          </a:p>
        </p:txBody>
      </p:sp>
      <p:sp>
        <p:nvSpPr>
          <p:cNvPr id="17" name="Rounded Rectangle 16"/>
          <p:cNvSpPr/>
          <p:nvPr/>
        </p:nvSpPr>
        <p:spPr>
          <a:xfrm>
            <a:off x="3840480" y="1874519"/>
            <a:ext cx="3703320" cy="3611880"/>
          </a:xfrm>
          <a:prstGeom prst="roundRect">
            <a:avLst/>
          </a:prstGeom>
          <a:solidFill>
            <a:srgbClr val="F8FBFC"/>
          </a:solidFill>
          <a:ln w="1270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0" y="2176272"/>
            <a:ext cx="3108960" cy="228600"/>
          </a:xfrm>
          <a:prstGeom prst="rect">
            <a:avLst/>
          </a:prstGeom>
          <a:noFill/>
        </p:spPr>
        <p:txBody>
          <a:bodyPr wrap="square" lIns="0" rIns="0" tIns="0" bIns="0" anchor="t">
            <a:normAutofit/>
          </a:bodyPr>
          <a:lstStyle/>
          <a:p>
            <a:pPr algn="l"/>
            <a:r>
              <a:rPr sz="950" b="1">
                <a:solidFill>
                  <a:srgbClr val="13806F"/>
                </a:solidFill>
                <a:latin typeface="Aptos"/>
              </a:rPr>
              <a:t>BACKEND API</a:t>
            </a:r>
          </a:p>
        </p:txBody>
      </p:sp>
      <p:sp>
        <p:nvSpPr>
          <p:cNvPr id="19" name="Rounded Rectangle 18"/>
          <p:cNvSpPr/>
          <p:nvPr/>
        </p:nvSpPr>
        <p:spPr>
          <a:xfrm>
            <a:off x="4114800" y="2697480"/>
            <a:ext cx="3154680" cy="566928"/>
          </a:xfrm>
          <a:prstGeom prst="roundRect">
            <a:avLst/>
          </a:prstGeom>
          <a:solidFill>
            <a:srgbClr val="F2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0" y="2697480"/>
            <a:ext cx="54864" cy="566928"/>
          </a:xfrm>
          <a:prstGeom prst="rect">
            <a:avLst/>
          </a:prstGeom>
          <a:solidFill>
            <a:srgbClr val="138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15968" y="2798064"/>
            <a:ext cx="1645920" cy="201168"/>
          </a:xfrm>
          <a:prstGeom prst="rect">
            <a:avLst/>
          </a:prstGeom>
          <a:noFill/>
        </p:spPr>
        <p:txBody>
          <a:bodyPr wrap="square" lIns="0" rIns="0" tIns="0" bIns="0" anchor="t">
            <a:normAutofit/>
          </a:bodyPr>
          <a:lstStyle/>
          <a:p>
            <a:pPr algn="l"/>
            <a:r>
              <a:rPr sz="930" b="1">
                <a:solidFill>
                  <a:srgbClr val="142632"/>
                </a:solidFill>
                <a:latin typeface="Aptos"/>
              </a:rPr>
              <a:t>Donation Engine</a:t>
            </a:r>
          </a:p>
        </p:txBody>
      </p:sp>
      <p:sp>
        <p:nvSpPr>
          <p:cNvPr id="22" name="TextBox 21"/>
          <p:cNvSpPr txBox="1"/>
          <p:nvPr/>
        </p:nvSpPr>
        <p:spPr>
          <a:xfrm>
            <a:off x="5897880" y="2798064"/>
            <a:ext cx="1170432" cy="228600"/>
          </a:xfrm>
          <a:prstGeom prst="rect">
            <a:avLst/>
          </a:prstGeom>
          <a:noFill/>
        </p:spPr>
        <p:txBody>
          <a:bodyPr wrap="square" lIns="0" rIns="0" tIns="0" bIns="0" anchor="t">
            <a:normAutofit/>
          </a:bodyPr>
          <a:lstStyle/>
          <a:p>
            <a:pPr algn="r"/>
            <a:r>
              <a:rPr sz="860" b="0">
                <a:solidFill>
                  <a:srgbClr val="5C707E"/>
                </a:solidFill>
                <a:latin typeface="Aptos"/>
              </a:rPr>
              <a:t>IDs + status tracking</a:t>
            </a:r>
          </a:p>
        </p:txBody>
      </p:sp>
      <p:sp>
        <p:nvSpPr>
          <p:cNvPr id="23" name="Rounded Rectangle 22"/>
          <p:cNvSpPr/>
          <p:nvPr/>
        </p:nvSpPr>
        <p:spPr>
          <a:xfrm>
            <a:off x="4114800" y="3502152"/>
            <a:ext cx="3154680" cy="566928"/>
          </a:xfrm>
          <a:prstGeom prst="roundRect">
            <a:avLst/>
          </a:prstGeom>
          <a:solidFill>
            <a:srgbClr val="F2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0" y="3502152"/>
            <a:ext cx="54864" cy="566928"/>
          </a:xfrm>
          <a:prstGeom prst="rect">
            <a:avLst/>
          </a:prstGeom>
          <a:solidFill>
            <a:srgbClr val="F570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15968" y="3602736"/>
            <a:ext cx="1645920" cy="201168"/>
          </a:xfrm>
          <a:prstGeom prst="rect">
            <a:avLst/>
          </a:prstGeom>
          <a:noFill/>
        </p:spPr>
        <p:txBody>
          <a:bodyPr wrap="square" lIns="0" rIns="0" tIns="0" bIns="0" anchor="t">
            <a:normAutofit/>
          </a:bodyPr>
          <a:lstStyle/>
          <a:p>
            <a:pPr algn="l"/>
            <a:r>
              <a:rPr sz="930" b="1">
                <a:solidFill>
                  <a:srgbClr val="142632"/>
                </a:solidFill>
                <a:latin typeface="Aptos"/>
              </a:rPr>
              <a:t>Proof &amp; Verification</a:t>
            </a:r>
          </a:p>
        </p:txBody>
      </p:sp>
      <p:sp>
        <p:nvSpPr>
          <p:cNvPr id="26" name="TextBox 25"/>
          <p:cNvSpPr txBox="1"/>
          <p:nvPr/>
        </p:nvSpPr>
        <p:spPr>
          <a:xfrm>
            <a:off x="5897880" y="3602736"/>
            <a:ext cx="1170432" cy="228600"/>
          </a:xfrm>
          <a:prstGeom prst="rect">
            <a:avLst/>
          </a:prstGeom>
          <a:noFill/>
        </p:spPr>
        <p:txBody>
          <a:bodyPr wrap="square" lIns="0" rIns="0" tIns="0" bIns="0" anchor="t">
            <a:normAutofit/>
          </a:bodyPr>
          <a:lstStyle/>
          <a:p>
            <a:pPr algn="r"/>
            <a:r>
              <a:rPr sz="860" b="0">
                <a:solidFill>
                  <a:srgbClr val="5C707E"/>
                </a:solidFill>
                <a:latin typeface="Aptos"/>
              </a:rPr>
              <a:t>NGO checks + photo review</a:t>
            </a:r>
          </a:p>
        </p:txBody>
      </p:sp>
      <p:sp>
        <p:nvSpPr>
          <p:cNvPr id="27" name="Rounded Rectangle 26"/>
          <p:cNvSpPr/>
          <p:nvPr/>
        </p:nvSpPr>
        <p:spPr>
          <a:xfrm>
            <a:off x="4114800" y="4306824"/>
            <a:ext cx="3154680" cy="566928"/>
          </a:xfrm>
          <a:prstGeom prst="roundRect">
            <a:avLst/>
          </a:prstGeom>
          <a:solidFill>
            <a:srgbClr val="F2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0" y="4306824"/>
            <a:ext cx="54864" cy="566928"/>
          </a:xfrm>
          <a:prstGeom prst="rect">
            <a:avLst/>
          </a:prstGeom>
          <a:solidFill>
            <a:srgbClr val="F4B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15968" y="4407408"/>
            <a:ext cx="1645920" cy="201168"/>
          </a:xfrm>
          <a:prstGeom prst="rect">
            <a:avLst/>
          </a:prstGeom>
          <a:noFill/>
        </p:spPr>
        <p:txBody>
          <a:bodyPr wrap="square" lIns="0" rIns="0" tIns="0" bIns="0" anchor="t">
            <a:normAutofit/>
          </a:bodyPr>
          <a:lstStyle/>
          <a:p>
            <a:pPr algn="l"/>
            <a:r>
              <a:rPr sz="930" b="1">
                <a:solidFill>
                  <a:srgbClr val="142632"/>
                </a:solidFill>
                <a:latin typeface="Aptos"/>
              </a:rPr>
              <a:t>Tracking Service</a:t>
            </a:r>
          </a:p>
        </p:txBody>
      </p:sp>
      <p:sp>
        <p:nvSpPr>
          <p:cNvPr id="30" name="TextBox 29"/>
          <p:cNvSpPr txBox="1"/>
          <p:nvPr/>
        </p:nvSpPr>
        <p:spPr>
          <a:xfrm>
            <a:off x="5897880" y="4407408"/>
            <a:ext cx="1170432" cy="228600"/>
          </a:xfrm>
          <a:prstGeom prst="rect">
            <a:avLst/>
          </a:prstGeom>
          <a:noFill/>
        </p:spPr>
        <p:txBody>
          <a:bodyPr wrap="square" lIns="0" rIns="0" tIns="0" bIns="0" anchor="t">
            <a:normAutofit/>
          </a:bodyPr>
          <a:lstStyle/>
          <a:p>
            <a:pPr algn="r"/>
            <a:r>
              <a:rPr sz="860" b="0">
                <a:solidFill>
                  <a:srgbClr val="5C707E"/>
                </a:solidFill>
                <a:latin typeface="Aptos"/>
              </a:rPr>
              <a:t>ID lookup + public table</a:t>
            </a:r>
          </a:p>
        </p:txBody>
      </p:sp>
      <p:sp>
        <p:nvSpPr>
          <p:cNvPr id="31" name="Rounded Rectangle 30"/>
          <p:cNvSpPr/>
          <p:nvPr/>
        </p:nvSpPr>
        <p:spPr>
          <a:xfrm>
            <a:off x="8001000" y="1874519"/>
            <a:ext cx="3520440" cy="3611880"/>
          </a:xfrm>
          <a:prstGeom prst="roundRect">
            <a:avLst/>
          </a:prstGeom>
          <a:solidFill>
            <a:srgbClr val="F8FBFC"/>
          </a:solidFill>
          <a:ln w="1270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5320" y="2176272"/>
            <a:ext cx="2926080" cy="228600"/>
          </a:xfrm>
          <a:prstGeom prst="rect">
            <a:avLst/>
          </a:prstGeom>
          <a:noFill/>
        </p:spPr>
        <p:txBody>
          <a:bodyPr wrap="square" lIns="0" rIns="0" tIns="0" bIns="0" anchor="t">
            <a:normAutofit/>
          </a:bodyPr>
          <a:lstStyle/>
          <a:p>
            <a:pPr algn="l"/>
            <a:r>
              <a:rPr sz="950" b="1">
                <a:solidFill>
                  <a:srgbClr val="13806F"/>
                </a:solidFill>
                <a:latin typeface="Aptos"/>
              </a:rPr>
              <a:t>DATA LAYER</a:t>
            </a:r>
          </a:p>
        </p:txBody>
      </p:sp>
      <p:sp>
        <p:nvSpPr>
          <p:cNvPr id="33" name="Oval 32"/>
          <p:cNvSpPr/>
          <p:nvPr/>
        </p:nvSpPr>
        <p:spPr>
          <a:xfrm>
            <a:off x="8275320" y="2688336"/>
            <a:ext cx="146304" cy="146304"/>
          </a:xfrm>
          <a:prstGeom prst="ellipse">
            <a:avLst/>
          </a:prstGeom>
          <a:solidFill>
            <a:srgbClr val="138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49640" y="2615184"/>
            <a:ext cx="2468880" cy="228600"/>
          </a:xfrm>
          <a:prstGeom prst="rect">
            <a:avLst/>
          </a:prstGeom>
          <a:noFill/>
        </p:spPr>
        <p:txBody>
          <a:bodyPr wrap="square" lIns="0" rIns="0" tIns="0" bIns="0" anchor="t">
            <a:normAutofit/>
          </a:bodyPr>
          <a:lstStyle/>
          <a:p>
            <a:pPr algn="l"/>
            <a:r>
              <a:rPr sz="980" b="1">
                <a:solidFill>
                  <a:srgbClr val="142632"/>
                </a:solidFill>
                <a:latin typeface="Aptos"/>
              </a:rPr>
              <a:t>Donors</a:t>
            </a:r>
          </a:p>
        </p:txBody>
      </p:sp>
      <p:sp>
        <p:nvSpPr>
          <p:cNvPr id="35" name="Oval 34"/>
          <p:cNvSpPr/>
          <p:nvPr/>
        </p:nvSpPr>
        <p:spPr>
          <a:xfrm>
            <a:off x="8275320" y="3099816"/>
            <a:ext cx="146304" cy="146304"/>
          </a:xfrm>
          <a:prstGeom prst="ellipse">
            <a:avLst/>
          </a:prstGeom>
          <a:solidFill>
            <a:srgbClr val="138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49640" y="3026664"/>
            <a:ext cx="2468880" cy="228600"/>
          </a:xfrm>
          <a:prstGeom prst="rect">
            <a:avLst/>
          </a:prstGeom>
          <a:noFill/>
        </p:spPr>
        <p:txBody>
          <a:bodyPr wrap="square" lIns="0" rIns="0" tIns="0" bIns="0" anchor="t">
            <a:normAutofit/>
          </a:bodyPr>
          <a:lstStyle/>
          <a:p>
            <a:pPr algn="l"/>
            <a:r>
              <a:rPr sz="980" b="1">
                <a:solidFill>
                  <a:srgbClr val="142632"/>
                </a:solidFill>
                <a:latin typeface="Aptos"/>
              </a:rPr>
              <a:t>NGOs</a:t>
            </a:r>
          </a:p>
        </p:txBody>
      </p:sp>
      <p:sp>
        <p:nvSpPr>
          <p:cNvPr id="37" name="Oval 36"/>
          <p:cNvSpPr/>
          <p:nvPr/>
        </p:nvSpPr>
        <p:spPr>
          <a:xfrm>
            <a:off x="8275320" y="3511296"/>
            <a:ext cx="146304" cy="146304"/>
          </a:xfrm>
          <a:prstGeom prst="ellipse">
            <a:avLst/>
          </a:prstGeom>
          <a:solidFill>
            <a:srgbClr val="138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49640" y="3438144"/>
            <a:ext cx="2468880" cy="228600"/>
          </a:xfrm>
          <a:prstGeom prst="rect">
            <a:avLst/>
          </a:prstGeom>
          <a:noFill/>
        </p:spPr>
        <p:txBody>
          <a:bodyPr wrap="square" lIns="0" rIns="0" tIns="0" bIns="0" anchor="t">
            <a:normAutofit/>
          </a:bodyPr>
          <a:lstStyle/>
          <a:p>
            <a:pPr algn="l"/>
            <a:r>
              <a:rPr sz="980" b="1">
                <a:solidFill>
                  <a:srgbClr val="142632"/>
                </a:solidFill>
                <a:latin typeface="Aptos"/>
              </a:rPr>
              <a:t>Donations</a:t>
            </a:r>
          </a:p>
        </p:txBody>
      </p:sp>
      <p:sp>
        <p:nvSpPr>
          <p:cNvPr id="39" name="Oval 38"/>
          <p:cNvSpPr/>
          <p:nvPr/>
        </p:nvSpPr>
        <p:spPr>
          <a:xfrm>
            <a:off x="8275320" y="3922776"/>
            <a:ext cx="146304" cy="146304"/>
          </a:xfrm>
          <a:prstGeom prst="ellipse">
            <a:avLst/>
          </a:prstGeom>
          <a:solidFill>
            <a:srgbClr val="138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49640" y="3849624"/>
            <a:ext cx="2468880" cy="228600"/>
          </a:xfrm>
          <a:prstGeom prst="rect">
            <a:avLst/>
          </a:prstGeom>
          <a:noFill/>
        </p:spPr>
        <p:txBody>
          <a:bodyPr wrap="square" lIns="0" rIns="0" tIns="0" bIns="0" anchor="t">
            <a:normAutofit/>
          </a:bodyPr>
          <a:lstStyle/>
          <a:p>
            <a:pPr algn="l"/>
            <a:r>
              <a:rPr sz="980" b="1">
                <a:solidFill>
                  <a:srgbClr val="142632"/>
                </a:solidFill>
                <a:latin typeface="Aptos"/>
              </a:rPr>
              <a:t>Status history</a:t>
            </a:r>
          </a:p>
        </p:txBody>
      </p:sp>
      <p:sp>
        <p:nvSpPr>
          <p:cNvPr id="41" name="Oval 40"/>
          <p:cNvSpPr/>
          <p:nvPr/>
        </p:nvSpPr>
        <p:spPr>
          <a:xfrm>
            <a:off x="8275320" y="4334256"/>
            <a:ext cx="146304" cy="146304"/>
          </a:xfrm>
          <a:prstGeom prst="ellipse">
            <a:avLst/>
          </a:prstGeom>
          <a:solidFill>
            <a:srgbClr val="138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49640" y="4261104"/>
            <a:ext cx="2468880" cy="228600"/>
          </a:xfrm>
          <a:prstGeom prst="rect">
            <a:avLst/>
          </a:prstGeom>
          <a:noFill/>
        </p:spPr>
        <p:txBody>
          <a:bodyPr wrap="square" lIns="0" rIns="0" tIns="0" bIns="0" anchor="t">
            <a:normAutofit/>
          </a:bodyPr>
          <a:lstStyle/>
          <a:p>
            <a:pPr algn="l"/>
            <a:r>
              <a:rPr sz="980" b="1">
                <a:solidFill>
                  <a:srgbClr val="142632"/>
                </a:solidFill>
                <a:latin typeface="Aptos"/>
              </a:rPr>
              <a:t>Proof files</a:t>
            </a:r>
          </a:p>
        </p:txBody>
      </p:sp>
      <p:sp>
        <p:nvSpPr>
          <p:cNvPr id="43" name="Oval 42"/>
          <p:cNvSpPr/>
          <p:nvPr/>
        </p:nvSpPr>
        <p:spPr>
          <a:xfrm>
            <a:off x="8275320" y="4745736"/>
            <a:ext cx="146304" cy="146304"/>
          </a:xfrm>
          <a:prstGeom prst="ellipse">
            <a:avLst/>
          </a:prstGeom>
          <a:solidFill>
            <a:srgbClr val="138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49640" y="4672583"/>
            <a:ext cx="2468880" cy="228600"/>
          </a:xfrm>
          <a:prstGeom prst="rect">
            <a:avLst/>
          </a:prstGeom>
          <a:noFill/>
        </p:spPr>
        <p:txBody>
          <a:bodyPr wrap="square" lIns="0" rIns="0" tIns="0" bIns="0" anchor="t">
            <a:normAutofit/>
          </a:bodyPr>
          <a:lstStyle/>
          <a:p>
            <a:pPr algn="l"/>
            <a:r>
              <a:rPr sz="980" b="1">
                <a:solidFill>
                  <a:srgbClr val="142632"/>
                </a:solidFill>
                <a:latin typeface="Aptos"/>
              </a:rPr>
              <a:t>Anonymous beneficiary IDs</a:t>
            </a:r>
          </a:p>
        </p:txBody>
      </p:sp>
      <p:cxnSp>
        <p:nvCxnSpPr>
          <p:cNvPr id="45" name="Connector 44"/>
          <p:cNvCxnSpPr/>
          <p:nvPr/>
        </p:nvCxnSpPr>
        <p:spPr>
          <a:xfrm>
            <a:off x="3429000" y="3657600"/>
            <a:ext cx="365760" cy="0"/>
          </a:xfrm>
          <a:prstGeom prst="line">
            <a:avLst/>
          </a:prstGeom>
          <a:ln w="27940">
            <a:solidFill>
              <a:srgbClr val="13806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571231" y="3657600"/>
            <a:ext cx="384048" cy="0"/>
          </a:xfrm>
          <a:prstGeom prst="line">
            <a:avLst/>
          </a:prstGeom>
          <a:ln w="27940">
            <a:solidFill>
              <a:srgbClr val="13806F"/>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0080" y="6547104"/>
            <a:ext cx="4572000" cy="182880"/>
          </a:xfrm>
          <a:prstGeom prst="rect">
            <a:avLst/>
          </a:prstGeom>
          <a:noFill/>
        </p:spPr>
        <p:txBody>
          <a:bodyPr wrap="square" lIns="0" rIns="0" tIns="0" bIns="0" anchor="t">
            <a:normAutofit/>
          </a:bodyPr>
          <a:lstStyle/>
          <a:p>
            <a:pPr algn="l"/>
            <a:r>
              <a:rPr sz="850" b="1">
                <a:solidFill>
                  <a:srgbClr val="80919A"/>
                </a:solidFill>
                <a:latin typeface="Aptos"/>
              </a:rPr>
              <a:t>DONATECONNECT  •  HACKFORGE IDEATHON</a:t>
            </a:r>
          </a:p>
        </p:txBody>
      </p:sp>
      <p:sp>
        <p:nvSpPr>
          <p:cNvPr id="48" name="TextBox 47"/>
          <p:cNvSpPr txBox="1"/>
          <p:nvPr/>
        </p:nvSpPr>
        <p:spPr>
          <a:xfrm>
            <a:off x="10972800" y="6519672"/>
            <a:ext cx="502920" cy="201168"/>
          </a:xfrm>
          <a:prstGeom prst="rect">
            <a:avLst/>
          </a:prstGeom>
          <a:noFill/>
        </p:spPr>
        <p:txBody>
          <a:bodyPr wrap="square" lIns="0" rIns="0" tIns="0" bIns="0" anchor="t">
            <a:normAutofit/>
          </a:bodyPr>
          <a:lstStyle/>
          <a:p>
            <a:pPr algn="r"/>
            <a:r>
              <a:rPr sz="900" b="1">
                <a:solidFill>
                  <a:srgbClr val="80919A"/>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3474720" cy="256032"/>
          </a:xfrm>
          <a:prstGeom prst="rect">
            <a:avLst/>
          </a:prstGeom>
          <a:noFill/>
        </p:spPr>
        <p:txBody>
          <a:bodyPr wrap="square" lIns="0" rIns="0" tIns="0" bIns="0" anchor="t">
            <a:normAutofit/>
          </a:bodyPr>
          <a:lstStyle/>
          <a:p>
            <a:pPr algn="l"/>
            <a:r>
              <a:rPr sz="1000" b="1">
                <a:solidFill>
                  <a:srgbClr val="1EBEA0"/>
                </a:solidFill>
                <a:latin typeface="Aptos"/>
              </a:rPr>
              <a:t>07 • TECHNOLOGY</a:t>
            </a:r>
          </a:p>
        </p:txBody>
      </p:sp>
      <p:sp>
        <p:nvSpPr>
          <p:cNvPr id="4" name="TextBox 3"/>
          <p:cNvSpPr txBox="1"/>
          <p:nvPr/>
        </p:nvSpPr>
        <p:spPr>
          <a:xfrm>
            <a:off x="640080" y="713232"/>
            <a:ext cx="10789920" cy="566928"/>
          </a:xfrm>
          <a:prstGeom prst="rect">
            <a:avLst/>
          </a:prstGeom>
          <a:noFill/>
        </p:spPr>
        <p:txBody>
          <a:bodyPr wrap="square" lIns="0" rIns="0" tIns="0" bIns="0" anchor="t">
            <a:normAutofit/>
          </a:bodyPr>
          <a:lstStyle/>
          <a:p>
            <a:pPr algn="l"/>
            <a:r>
              <a:rPr sz="2700" b="1">
                <a:solidFill>
                  <a:srgbClr val="F8FBFC"/>
                </a:solidFill>
                <a:latin typeface="Aptos"/>
              </a:rPr>
              <a:t>A practical stack for a fast, scalable prototype.</a:t>
            </a:r>
          </a:p>
        </p:txBody>
      </p:sp>
      <p:sp>
        <p:nvSpPr>
          <p:cNvPr id="5" name="TextBox 4"/>
          <p:cNvSpPr txBox="1"/>
          <p:nvPr/>
        </p:nvSpPr>
        <p:spPr>
          <a:xfrm>
            <a:off x="640080" y="1307592"/>
            <a:ext cx="10515600" cy="384048"/>
          </a:xfrm>
          <a:prstGeom prst="rect">
            <a:avLst/>
          </a:prstGeom>
          <a:noFill/>
        </p:spPr>
        <p:txBody>
          <a:bodyPr wrap="square" lIns="0" rIns="0" tIns="0" bIns="0" anchor="t">
            <a:normAutofit/>
          </a:bodyPr>
          <a:lstStyle/>
          <a:p>
            <a:pPr algn="l"/>
            <a:r>
              <a:rPr sz="1250" b="0">
                <a:solidFill>
                  <a:srgbClr val="AEC1CD"/>
                </a:solidFill>
                <a:latin typeface="Aptos"/>
              </a:rPr>
              <a:t>Built first for clarity; designed next for reliable transactions and proof storage.</a:t>
            </a:r>
          </a:p>
        </p:txBody>
      </p:sp>
      <p:sp>
        <p:nvSpPr>
          <p:cNvPr id="6" name="Rounded Rectangle 5"/>
          <p:cNvSpPr/>
          <p:nvPr/>
        </p:nvSpPr>
        <p:spPr>
          <a:xfrm>
            <a:off x="594360" y="2057400"/>
            <a:ext cx="1920240" cy="297180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80160" y="2331720"/>
            <a:ext cx="548640" cy="548640"/>
          </a:xfrm>
          <a:prstGeom prst="ellipse">
            <a:avLst/>
          </a:prstGeom>
          <a:solidFill>
            <a:srgbClr val="1EB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432304"/>
            <a:ext cx="548640" cy="228600"/>
          </a:xfrm>
          <a:prstGeom prst="rect">
            <a:avLst/>
          </a:prstGeom>
          <a:noFill/>
        </p:spPr>
        <p:txBody>
          <a:bodyPr wrap="square" lIns="0" rIns="0" tIns="0" bIns="0" anchor="t">
            <a:normAutofit/>
          </a:bodyPr>
          <a:lstStyle/>
          <a:p>
            <a:pPr algn="ctr"/>
            <a:r>
              <a:rPr sz="1100" b="1">
                <a:solidFill>
                  <a:srgbClr val="091827"/>
                </a:solidFill>
                <a:latin typeface="Aptos"/>
              </a:rPr>
              <a:t>1</a:t>
            </a:r>
          </a:p>
        </p:txBody>
      </p:sp>
      <p:sp>
        <p:nvSpPr>
          <p:cNvPr id="9" name="TextBox 8"/>
          <p:cNvSpPr txBox="1"/>
          <p:nvPr/>
        </p:nvSpPr>
        <p:spPr>
          <a:xfrm>
            <a:off x="777240" y="3154680"/>
            <a:ext cx="1554480" cy="274320"/>
          </a:xfrm>
          <a:prstGeom prst="rect">
            <a:avLst/>
          </a:prstGeom>
          <a:noFill/>
        </p:spPr>
        <p:txBody>
          <a:bodyPr wrap="square" lIns="0" rIns="0" tIns="0" bIns="0" anchor="t">
            <a:normAutofit/>
          </a:bodyPr>
          <a:lstStyle/>
          <a:p>
            <a:pPr algn="ctr"/>
            <a:r>
              <a:rPr sz="1000" b="1">
                <a:solidFill>
                  <a:srgbClr val="1EBEA0"/>
                </a:solidFill>
                <a:latin typeface="Aptos"/>
              </a:rPr>
              <a:t>FRONT END</a:t>
            </a:r>
          </a:p>
        </p:txBody>
      </p:sp>
      <p:sp>
        <p:nvSpPr>
          <p:cNvPr id="10" name="TextBox 9"/>
          <p:cNvSpPr txBox="1"/>
          <p:nvPr/>
        </p:nvSpPr>
        <p:spPr>
          <a:xfrm>
            <a:off x="777240" y="3657600"/>
            <a:ext cx="1554480" cy="914400"/>
          </a:xfrm>
          <a:prstGeom prst="rect">
            <a:avLst/>
          </a:prstGeom>
          <a:noFill/>
        </p:spPr>
        <p:txBody>
          <a:bodyPr wrap="square" lIns="0" rIns="0" tIns="0" bIns="0" anchor="t">
            <a:normAutofit/>
          </a:bodyPr>
          <a:lstStyle/>
          <a:p>
            <a:pPr algn="ctr"/>
            <a:r>
              <a:rPr sz="1500" b="1">
                <a:solidFill>
                  <a:srgbClr val="F8FBFC"/>
                </a:solidFill>
                <a:latin typeface="Aptos"/>
              </a:rPr>
              <a:t>HTML
CSS
Bootstrap 5.3.3</a:t>
            </a:r>
          </a:p>
        </p:txBody>
      </p:sp>
      <p:sp>
        <p:nvSpPr>
          <p:cNvPr id="11" name="Rounded Rectangle 10"/>
          <p:cNvSpPr/>
          <p:nvPr/>
        </p:nvSpPr>
        <p:spPr>
          <a:xfrm>
            <a:off x="2862072" y="2057400"/>
            <a:ext cx="1920240" cy="297180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47872" y="2331720"/>
            <a:ext cx="548640" cy="548640"/>
          </a:xfrm>
          <a:prstGeom prst="ellipse">
            <a:avLst/>
          </a:prstGeom>
          <a:solidFill>
            <a:srgbClr val="F4B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2432304"/>
            <a:ext cx="548640" cy="228600"/>
          </a:xfrm>
          <a:prstGeom prst="rect">
            <a:avLst/>
          </a:prstGeom>
          <a:noFill/>
        </p:spPr>
        <p:txBody>
          <a:bodyPr wrap="square" lIns="0" rIns="0" tIns="0" bIns="0" anchor="t">
            <a:normAutofit/>
          </a:bodyPr>
          <a:lstStyle/>
          <a:p>
            <a:pPr algn="ctr"/>
            <a:r>
              <a:rPr sz="1100" b="1">
                <a:solidFill>
                  <a:srgbClr val="091827"/>
                </a:solidFill>
                <a:latin typeface="Aptos"/>
              </a:rPr>
              <a:t>2</a:t>
            </a:r>
          </a:p>
        </p:txBody>
      </p:sp>
      <p:sp>
        <p:nvSpPr>
          <p:cNvPr id="14" name="TextBox 13"/>
          <p:cNvSpPr txBox="1"/>
          <p:nvPr/>
        </p:nvSpPr>
        <p:spPr>
          <a:xfrm>
            <a:off x="3044952" y="3154680"/>
            <a:ext cx="1554480" cy="274320"/>
          </a:xfrm>
          <a:prstGeom prst="rect">
            <a:avLst/>
          </a:prstGeom>
          <a:noFill/>
        </p:spPr>
        <p:txBody>
          <a:bodyPr wrap="square" lIns="0" rIns="0" tIns="0" bIns="0" anchor="t">
            <a:normAutofit/>
          </a:bodyPr>
          <a:lstStyle/>
          <a:p>
            <a:pPr algn="ctr"/>
            <a:r>
              <a:rPr sz="1000" b="1">
                <a:solidFill>
                  <a:srgbClr val="F4B74C"/>
                </a:solidFill>
                <a:latin typeface="Aptos"/>
              </a:rPr>
              <a:t>BACK END</a:t>
            </a:r>
          </a:p>
        </p:txBody>
      </p:sp>
      <p:sp>
        <p:nvSpPr>
          <p:cNvPr id="15" name="TextBox 14"/>
          <p:cNvSpPr txBox="1"/>
          <p:nvPr/>
        </p:nvSpPr>
        <p:spPr>
          <a:xfrm>
            <a:off x="3044952" y="3657600"/>
            <a:ext cx="1554480" cy="914400"/>
          </a:xfrm>
          <a:prstGeom prst="rect">
            <a:avLst/>
          </a:prstGeom>
          <a:noFill/>
        </p:spPr>
        <p:txBody>
          <a:bodyPr wrap="square" lIns="0" rIns="0" tIns="0" bIns="0" anchor="t">
            <a:normAutofit/>
          </a:bodyPr>
          <a:lstStyle/>
          <a:p>
            <a:pPr algn="ctr"/>
            <a:r>
              <a:rPr sz="1500" b="1">
                <a:solidFill>
                  <a:srgbClr val="F8FBFC"/>
                </a:solidFill>
                <a:latin typeface="Aptos"/>
              </a:rPr>
              <a:t>Node.js
Express</a:t>
            </a:r>
          </a:p>
        </p:txBody>
      </p:sp>
      <p:sp>
        <p:nvSpPr>
          <p:cNvPr id="16" name="Rounded Rectangle 15"/>
          <p:cNvSpPr/>
          <p:nvPr/>
        </p:nvSpPr>
        <p:spPr>
          <a:xfrm>
            <a:off x="5129784" y="2057400"/>
            <a:ext cx="1920240" cy="297180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15584" y="2331720"/>
            <a:ext cx="548640" cy="548640"/>
          </a:xfrm>
          <a:prstGeom prst="ellipse">
            <a:avLst/>
          </a:prstGeom>
          <a:solidFill>
            <a:srgbClr val="F570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15584" y="2432304"/>
            <a:ext cx="548640" cy="228600"/>
          </a:xfrm>
          <a:prstGeom prst="rect">
            <a:avLst/>
          </a:prstGeom>
          <a:noFill/>
        </p:spPr>
        <p:txBody>
          <a:bodyPr wrap="square" lIns="0" rIns="0" tIns="0" bIns="0" anchor="t">
            <a:normAutofit/>
          </a:bodyPr>
          <a:lstStyle/>
          <a:p>
            <a:pPr algn="ctr"/>
            <a:r>
              <a:rPr sz="1100" b="1">
                <a:solidFill>
                  <a:srgbClr val="091827"/>
                </a:solidFill>
                <a:latin typeface="Aptos"/>
              </a:rPr>
              <a:t>3</a:t>
            </a:r>
          </a:p>
        </p:txBody>
      </p:sp>
      <p:sp>
        <p:nvSpPr>
          <p:cNvPr id="19" name="TextBox 18"/>
          <p:cNvSpPr txBox="1"/>
          <p:nvPr/>
        </p:nvSpPr>
        <p:spPr>
          <a:xfrm>
            <a:off x="5312664" y="3154680"/>
            <a:ext cx="1554480" cy="274320"/>
          </a:xfrm>
          <a:prstGeom prst="rect">
            <a:avLst/>
          </a:prstGeom>
          <a:noFill/>
        </p:spPr>
        <p:txBody>
          <a:bodyPr wrap="square" lIns="0" rIns="0" tIns="0" bIns="0" anchor="t">
            <a:normAutofit/>
          </a:bodyPr>
          <a:lstStyle/>
          <a:p>
            <a:pPr algn="ctr"/>
            <a:r>
              <a:rPr sz="1000" b="1">
                <a:solidFill>
                  <a:srgbClr val="F5705B"/>
                </a:solidFill>
                <a:latin typeface="Aptos"/>
              </a:rPr>
              <a:t>DATABASE</a:t>
            </a:r>
          </a:p>
        </p:txBody>
      </p:sp>
      <p:sp>
        <p:nvSpPr>
          <p:cNvPr id="20" name="TextBox 19"/>
          <p:cNvSpPr txBox="1"/>
          <p:nvPr/>
        </p:nvSpPr>
        <p:spPr>
          <a:xfrm>
            <a:off x="5312664" y="3657600"/>
            <a:ext cx="1554480" cy="914400"/>
          </a:xfrm>
          <a:prstGeom prst="rect">
            <a:avLst/>
          </a:prstGeom>
          <a:noFill/>
        </p:spPr>
        <p:txBody>
          <a:bodyPr wrap="square" lIns="0" rIns="0" tIns="0" bIns="0" anchor="t">
            <a:normAutofit/>
          </a:bodyPr>
          <a:lstStyle/>
          <a:p>
            <a:pPr algn="ctr"/>
            <a:r>
              <a:rPr sz="1500" b="1">
                <a:solidFill>
                  <a:srgbClr val="F8FBFC"/>
                </a:solidFill>
                <a:latin typeface="Aptos"/>
              </a:rPr>
              <a:t>MongoDB</a:t>
            </a:r>
          </a:p>
        </p:txBody>
      </p:sp>
      <p:sp>
        <p:nvSpPr>
          <p:cNvPr id="21" name="Rounded Rectangle 20"/>
          <p:cNvSpPr/>
          <p:nvPr/>
        </p:nvSpPr>
        <p:spPr>
          <a:xfrm>
            <a:off x="7397496" y="2057400"/>
            <a:ext cx="1920240" cy="297180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83296" y="2331720"/>
            <a:ext cx="548640" cy="548640"/>
          </a:xfrm>
          <a:prstGeom prst="ellipse">
            <a:avLst/>
          </a:prstGeom>
          <a:solidFill>
            <a:srgbClr val="1EB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83296" y="2432304"/>
            <a:ext cx="548640" cy="228600"/>
          </a:xfrm>
          <a:prstGeom prst="rect">
            <a:avLst/>
          </a:prstGeom>
          <a:noFill/>
        </p:spPr>
        <p:txBody>
          <a:bodyPr wrap="square" lIns="0" rIns="0" tIns="0" bIns="0" anchor="t">
            <a:normAutofit/>
          </a:bodyPr>
          <a:lstStyle/>
          <a:p>
            <a:pPr algn="ctr"/>
            <a:r>
              <a:rPr sz="1100" b="1">
                <a:solidFill>
                  <a:srgbClr val="091827"/>
                </a:solidFill>
                <a:latin typeface="Aptos"/>
              </a:rPr>
              <a:t>4</a:t>
            </a:r>
          </a:p>
        </p:txBody>
      </p:sp>
      <p:sp>
        <p:nvSpPr>
          <p:cNvPr id="24" name="TextBox 23"/>
          <p:cNvSpPr txBox="1"/>
          <p:nvPr/>
        </p:nvSpPr>
        <p:spPr>
          <a:xfrm>
            <a:off x="7580375" y="3154680"/>
            <a:ext cx="1554480" cy="274320"/>
          </a:xfrm>
          <a:prstGeom prst="rect">
            <a:avLst/>
          </a:prstGeom>
          <a:noFill/>
        </p:spPr>
        <p:txBody>
          <a:bodyPr wrap="square" lIns="0" rIns="0" tIns="0" bIns="0" anchor="t">
            <a:normAutofit/>
          </a:bodyPr>
          <a:lstStyle/>
          <a:p>
            <a:pPr algn="ctr"/>
            <a:r>
              <a:rPr sz="1000" b="1">
                <a:solidFill>
                  <a:srgbClr val="1EBEA0"/>
                </a:solidFill>
                <a:latin typeface="Aptos"/>
              </a:rPr>
              <a:t>PAYMENTS</a:t>
            </a:r>
          </a:p>
        </p:txBody>
      </p:sp>
      <p:sp>
        <p:nvSpPr>
          <p:cNvPr id="25" name="TextBox 24"/>
          <p:cNvSpPr txBox="1"/>
          <p:nvPr/>
        </p:nvSpPr>
        <p:spPr>
          <a:xfrm>
            <a:off x="7580375" y="3657600"/>
            <a:ext cx="1554480" cy="914400"/>
          </a:xfrm>
          <a:prstGeom prst="rect">
            <a:avLst/>
          </a:prstGeom>
          <a:noFill/>
        </p:spPr>
        <p:txBody>
          <a:bodyPr wrap="square" lIns="0" rIns="0" tIns="0" bIns="0" anchor="t">
            <a:normAutofit/>
          </a:bodyPr>
          <a:lstStyle/>
          <a:p>
            <a:pPr algn="ctr"/>
            <a:r>
              <a:rPr sz="1500" b="1">
                <a:solidFill>
                  <a:srgbClr val="F8FBFC"/>
                </a:solidFill>
                <a:latin typeface="Aptos"/>
              </a:rPr>
              <a:t>Razorpay</a:t>
            </a:r>
          </a:p>
        </p:txBody>
      </p:sp>
      <p:sp>
        <p:nvSpPr>
          <p:cNvPr id="26" name="Rounded Rectangle 25"/>
          <p:cNvSpPr/>
          <p:nvPr/>
        </p:nvSpPr>
        <p:spPr>
          <a:xfrm>
            <a:off x="9665208" y="2057400"/>
            <a:ext cx="1920240" cy="2971800"/>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51008" y="2331720"/>
            <a:ext cx="548640" cy="548640"/>
          </a:xfrm>
          <a:prstGeom prst="ellipse">
            <a:avLst/>
          </a:prstGeom>
          <a:solidFill>
            <a:srgbClr val="F4B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51008" y="2432304"/>
            <a:ext cx="548640" cy="228600"/>
          </a:xfrm>
          <a:prstGeom prst="rect">
            <a:avLst/>
          </a:prstGeom>
          <a:noFill/>
        </p:spPr>
        <p:txBody>
          <a:bodyPr wrap="square" lIns="0" rIns="0" tIns="0" bIns="0" anchor="t">
            <a:normAutofit/>
          </a:bodyPr>
          <a:lstStyle/>
          <a:p>
            <a:pPr algn="ctr"/>
            <a:r>
              <a:rPr sz="1100" b="1">
                <a:solidFill>
                  <a:srgbClr val="091827"/>
                </a:solidFill>
                <a:latin typeface="Aptos"/>
              </a:rPr>
              <a:t>5</a:t>
            </a:r>
          </a:p>
        </p:txBody>
      </p:sp>
      <p:sp>
        <p:nvSpPr>
          <p:cNvPr id="29" name="TextBox 28"/>
          <p:cNvSpPr txBox="1"/>
          <p:nvPr/>
        </p:nvSpPr>
        <p:spPr>
          <a:xfrm>
            <a:off x="9848088" y="3154680"/>
            <a:ext cx="1554480" cy="274320"/>
          </a:xfrm>
          <a:prstGeom prst="rect">
            <a:avLst/>
          </a:prstGeom>
          <a:noFill/>
        </p:spPr>
        <p:txBody>
          <a:bodyPr wrap="square" lIns="0" rIns="0" tIns="0" bIns="0" anchor="t">
            <a:normAutofit/>
          </a:bodyPr>
          <a:lstStyle/>
          <a:p>
            <a:pPr algn="ctr"/>
            <a:r>
              <a:rPr sz="1000" b="1">
                <a:solidFill>
                  <a:srgbClr val="F4B74C"/>
                </a:solidFill>
                <a:latin typeface="Aptos"/>
              </a:rPr>
              <a:t>PROOF STORAGE</a:t>
            </a:r>
          </a:p>
        </p:txBody>
      </p:sp>
      <p:sp>
        <p:nvSpPr>
          <p:cNvPr id="30" name="TextBox 29"/>
          <p:cNvSpPr txBox="1"/>
          <p:nvPr/>
        </p:nvSpPr>
        <p:spPr>
          <a:xfrm>
            <a:off x="9848088" y="3657600"/>
            <a:ext cx="1554480" cy="914400"/>
          </a:xfrm>
          <a:prstGeom prst="rect">
            <a:avLst/>
          </a:prstGeom>
          <a:noFill/>
        </p:spPr>
        <p:txBody>
          <a:bodyPr wrap="square" lIns="0" rIns="0" tIns="0" bIns="0" anchor="t">
            <a:normAutofit/>
          </a:bodyPr>
          <a:lstStyle/>
          <a:p>
            <a:pPr algn="ctr"/>
            <a:r>
              <a:rPr sz="1500" b="1">
                <a:solidFill>
                  <a:srgbClr val="F8FBFC"/>
                </a:solidFill>
                <a:latin typeface="Aptos"/>
              </a:rPr>
              <a:t>Cloud storage</a:t>
            </a:r>
          </a:p>
        </p:txBody>
      </p:sp>
      <p:sp>
        <p:nvSpPr>
          <p:cNvPr id="31" name="Rounded Rectangle 30"/>
          <p:cNvSpPr/>
          <p:nvPr/>
        </p:nvSpPr>
        <p:spPr>
          <a:xfrm>
            <a:off x="822960" y="5413248"/>
            <a:ext cx="10469880" cy="658368"/>
          </a:xfrm>
          <a:prstGeom prst="round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596128"/>
            <a:ext cx="1325880" cy="182880"/>
          </a:xfrm>
          <a:prstGeom prst="rect">
            <a:avLst/>
          </a:prstGeom>
          <a:noFill/>
        </p:spPr>
        <p:txBody>
          <a:bodyPr wrap="square" lIns="0" rIns="0" tIns="0" bIns="0" anchor="t">
            <a:normAutofit/>
          </a:bodyPr>
          <a:lstStyle/>
          <a:p>
            <a:pPr algn="l"/>
            <a:r>
              <a:rPr sz="850" b="1">
                <a:solidFill>
                  <a:srgbClr val="1EBEA0"/>
                </a:solidFill>
                <a:latin typeface="Aptos"/>
              </a:rPr>
              <a:t>DESIGN PRINCIPLE</a:t>
            </a:r>
          </a:p>
        </p:txBody>
      </p:sp>
      <p:sp>
        <p:nvSpPr>
          <p:cNvPr id="33" name="TextBox 32"/>
          <p:cNvSpPr txBox="1"/>
          <p:nvPr/>
        </p:nvSpPr>
        <p:spPr>
          <a:xfrm>
            <a:off x="2487168" y="5532120"/>
            <a:ext cx="8138160" cy="274320"/>
          </a:xfrm>
          <a:prstGeom prst="rect">
            <a:avLst/>
          </a:prstGeom>
          <a:noFill/>
        </p:spPr>
        <p:txBody>
          <a:bodyPr wrap="square" lIns="0" rIns="0" tIns="0" bIns="0" anchor="t">
            <a:normAutofit/>
          </a:bodyPr>
          <a:lstStyle/>
          <a:p>
            <a:pPr algn="l"/>
            <a:r>
              <a:rPr sz="1300" b="1">
                <a:solidFill>
                  <a:srgbClr val="F8FBFC"/>
                </a:solidFill>
                <a:latin typeface="Aptos"/>
              </a:rPr>
              <a:t>Problem  →  Requirement  →  Technology  →  Solution</a:t>
            </a:r>
          </a:p>
        </p:txBody>
      </p:sp>
      <p:sp>
        <p:nvSpPr>
          <p:cNvPr id="34" name="TextBox 33"/>
          <p:cNvSpPr txBox="1"/>
          <p:nvPr/>
        </p:nvSpPr>
        <p:spPr>
          <a:xfrm>
            <a:off x="640080" y="6547104"/>
            <a:ext cx="4572000" cy="182880"/>
          </a:xfrm>
          <a:prstGeom prst="rect">
            <a:avLst/>
          </a:prstGeom>
          <a:noFill/>
        </p:spPr>
        <p:txBody>
          <a:bodyPr wrap="square" lIns="0" rIns="0" tIns="0" bIns="0" anchor="t">
            <a:normAutofit/>
          </a:bodyPr>
          <a:lstStyle/>
          <a:p>
            <a:pPr algn="l"/>
            <a:r>
              <a:rPr sz="850" b="1">
                <a:solidFill>
                  <a:srgbClr val="5D7989"/>
                </a:solidFill>
                <a:latin typeface="Aptos"/>
              </a:rPr>
              <a:t>DONATECONNECT  •  HACKFORGE IDEATHON</a:t>
            </a:r>
          </a:p>
        </p:txBody>
      </p:sp>
      <p:sp>
        <p:nvSpPr>
          <p:cNvPr id="35" name="TextBox 34"/>
          <p:cNvSpPr txBox="1"/>
          <p:nvPr/>
        </p:nvSpPr>
        <p:spPr>
          <a:xfrm>
            <a:off x="10972800" y="6519672"/>
            <a:ext cx="502920" cy="201168"/>
          </a:xfrm>
          <a:prstGeom prst="rect">
            <a:avLst/>
          </a:prstGeom>
          <a:noFill/>
        </p:spPr>
        <p:txBody>
          <a:bodyPr wrap="square" lIns="0" rIns="0" tIns="0" bIns="0" anchor="t">
            <a:normAutofit/>
          </a:bodyPr>
          <a:lstStyle/>
          <a:p>
            <a:pPr algn="r"/>
            <a:r>
              <a:rPr sz="900" b="1">
                <a:solidFill>
                  <a:srgbClr val="5D7989"/>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3474720" cy="256032"/>
          </a:xfrm>
          <a:prstGeom prst="rect">
            <a:avLst/>
          </a:prstGeom>
          <a:noFill/>
        </p:spPr>
        <p:txBody>
          <a:bodyPr wrap="square" lIns="0" rIns="0" tIns="0" bIns="0" anchor="t">
            <a:normAutofit/>
          </a:bodyPr>
          <a:lstStyle/>
          <a:p>
            <a:pPr algn="l"/>
            <a:r>
              <a:rPr sz="1000" b="1">
                <a:solidFill>
                  <a:srgbClr val="13806F"/>
                </a:solidFill>
                <a:latin typeface="Aptos"/>
              </a:rPr>
              <a:t>08 • FEASIBILITY &amp; IMPACT</a:t>
            </a:r>
          </a:p>
        </p:txBody>
      </p:sp>
      <p:sp>
        <p:nvSpPr>
          <p:cNvPr id="4" name="TextBox 3"/>
          <p:cNvSpPr txBox="1"/>
          <p:nvPr/>
        </p:nvSpPr>
        <p:spPr>
          <a:xfrm>
            <a:off x="640080" y="713232"/>
            <a:ext cx="10789920" cy="566928"/>
          </a:xfrm>
          <a:prstGeom prst="rect">
            <a:avLst/>
          </a:prstGeom>
          <a:noFill/>
        </p:spPr>
        <p:txBody>
          <a:bodyPr wrap="square" lIns="0" rIns="0" tIns="0" bIns="0" anchor="t">
            <a:normAutofit/>
          </a:bodyPr>
          <a:lstStyle/>
          <a:p>
            <a:pPr algn="l"/>
            <a:r>
              <a:rPr sz="2700" b="1">
                <a:solidFill>
                  <a:srgbClr val="142632"/>
                </a:solidFill>
                <a:latin typeface="Aptos"/>
              </a:rPr>
              <a:t>Start small. Prove trust. Scale the network.</a:t>
            </a:r>
          </a:p>
        </p:txBody>
      </p:sp>
      <p:sp>
        <p:nvSpPr>
          <p:cNvPr id="5" name="TextBox 4"/>
          <p:cNvSpPr txBox="1"/>
          <p:nvPr/>
        </p:nvSpPr>
        <p:spPr>
          <a:xfrm>
            <a:off x="640080" y="1307592"/>
            <a:ext cx="10515600" cy="384048"/>
          </a:xfrm>
          <a:prstGeom prst="rect">
            <a:avLst/>
          </a:prstGeom>
          <a:noFill/>
        </p:spPr>
        <p:txBody>
          <a:bodyPr wrap="square" lIns="0" rIns="0" tIns="0" bIns="0" anchor="t">
            <a:normAutofit/>
          </a:bodyPr>
          <a:lstStyle/>
          <a:p>
            <a:pPr algn="l"/>
            <a:r>
              <a:rPr sz="1250" b="0">
                <a:solidFill>
                  <a:srgbClr val="5C707E"/>
                </a:solidFill>
                <a:latin typeface="Aptos"/>
              </a:rPr>
              <a:t>The MVP is realistic because the core front end already exists.</a:t>
            </a:r>
          </a:p>
        </p:txBody>
      </p:sp>
      <p:sp>
        <p:nvSpPr>
          <p:cNvPr id="6" name="Rounded Rectangle 5"/>
          <p:cNvSpPr/>
          <p:nvPr/>
        </p:nvSpPr>
        <p:spPr>
          <a:xfrm>
            <a:off x="640080" y="1901952"/>
            <a:ext cx="5074920" cy="3611880"/>
          </a:xfrm>
          <a:prstGeom prst="roundRect">
            <a:avLst/>
          </a:prstGeom>
          <a:solidFill>
            <a:srgbClr val="F8FBFC"/>
          </a:solidFill>
          <a:ln w="1270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194560"/>
            <a:ext cx="2926080" cy="274320"/>
          </a:xfrm>
          <a:prstGeom prst="rect">
            <a:avLst/>
          </a:prstGeom>
          <a:noFill/>
        </p:spPr>
        <p:txBody>
          <a:bodyPr wrap="square" lIns="0" rIns="0" tIns="0" bIns="0" anchor="t">
            <a:normAutofit/>
          </a:bodyPr>
          <a:lstStyle/>
          <a:p>
            <a:pPr algn="l"/>
            <a:r>
              <a:rPr sz="1000" b="1">
                <a:solidFill>
                  <a:srgbClr val="13806F"/>
                </a:solidFill>
                <a:latin typeface="Aptos"/>
              </a:rPr>
              <a:t>WHY IT IS FEASIBLE</a:t>
            </a:r>
          </a:p>
        </p:txBody>
      </p:sp>
      <p:sp>
        <p:nvSpPr>
          <p:cNvPr id="8" name="Oval 7"/>
          <p:cNvSpPr/>
          <p:nvPr/>
        </p:nvSpPr>
        <p:spPr>
          <a:xfrm>
            <a:off x="932688" y="2761488"/>
            <a:ext cx="320040" cy="320040"/>
          </a:xfrm>
          <a:prstGeom prst="ellipse">
            <a:avLst/>
          </a:prstGeom>
          <a:solidFill>
            <a:srgbClr val="138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770632"/>
            <a:ext cx="320040" cy="301751"/>
          </a:xfrm>
          <a:prstGeom prst="rect">
            <a:avLst/>
          </a:prstGeom>
          <a:noFill/>
        </p:spPr>
        <p:txBody>
          <a:bodyPr wrap="square" lIns="0" rIns="0" tIns="0" bIns="0" anchor="ctr">
            <a:normAutofit/>
          </a:bodyPr>
          <a:lstStyle/>
          <a:p>
            <a:pPr algn="ctr"/>
            <a:r>
              <a:rPr sz="1400" b="1">
                <a:solidFill>
                  <a:srgbClr val="091827"/>
                </a:solidFill>
                <a:latin typeface="Aptos"/>
              </a:rPr>
              <a:t>✓</a:t>
            </a:r>
          </a:p>
        </p:txBody>
      </p:sp>
      <p:sp>
        <p:nvSpPr>
          <p:cNvPr id="10" name="TextBox 9"/>
          <p:cNvSpPr txBox="1"/>
          <p:nvPr/>
        </p:nvSpPr>
        <p:spPr>
          <a:xfrm>
            <a:off x="1389888" y="2770632"/>
            <a:ext cx="3749039" cy="274320"/>
          </a:xfrm>
          <a:prstGeom prst="rect">
            <a:avLst/>
          </a:prstGeom>
          <a:noFill/>
        </p:spPr>
        <p:txBody>
          <a:bodyPr wrap="square" lIns="0" rIns="0" tIns="0" bIns="0" anchor="t">
            <a:normAutofit/>
          </a:bodyPr>
          <a:lstStyle/>
          <a:p>
            <a:pPr algn="l"/>
            <a:r>
              <a:rPr sz="1150" b="1">
                <a:solidFill>
                  <a:srgbClr val="142632"/>
                </a:solidFill>
                <a:latin typeface="Aptos"/>
              </a:rPr>
              <a:t>Front end already built</a:t>
            </a:r>
          </a:p>
        </p:txBody>
      </p:sp>
      <p:sp>
        <p:nvSpPr>
          <p:cNvPr id="11" name="Oval 10"/>
          <p:cNvSpPr/>
          <p:nvPr/>
        </p:nvSpPr>
        <p:spPr>
          <a:xfrm>
            <a:off x="932688" y="3447288"/>
            <a:ext cx="320040" cy="320040"/>
          </a:xfrm>
          <a:prstGeom prst="ellipse">
            <a:avLst/>
          </a:prstGeom>
          <a:solidFill>
            <a:srgbClr val="138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456432"/>
            <a:ext cx="320040" cy="301751"/>
          </a:xfrm>
          <a:prstGeom prst="rect">
            <a:avLst/>
          </a:prstGeom>
          <a:noFill/>
        </p:spPr>
        <p:txBody>
          <a:bodyPr wrap="square" lIns="0" rIns="0" tIns="0" bIns="0" anchor="ctr">
            <a:normAutofit/>
          </a:bodyPr>
          <a:lstStyle/>
          <a:p>
            <a:pPr algn="ctr"/>
            <a:r>
              <a:rPr sz="1400" b="1">
                <a:solidFill>
                  <a:srgbClr val="091827"/>
                </a:solidFill>
                <a:latin typeface="Aptos"/>
              </a:rPr>
              <a:t>✓</a:t>
            </a:r>
          </a:p>
        </p:txBody>
      </p:sp>
      <p:sp>
        <p:nvSpPr>
          <p:cNvPr id="13" name="TextBox 12"/>
          <p:cNvSpPr txBox="1"/>
          <p:nvPr/>
        </p:nvSpPr>
        <p:spPr>
          <a:xfrm>
            <a:off x="1389888" y="3456432"/>
            <a:ext cx="3749039" cy="274320"/>
          </a:xfrm>
          <a:prstGeom prst="rect">
            <a:avLst/>
          </a:prstGeom>
          <a:noFill/>
        </p:spPr>
        <p:txBody>
          <a:bodyPr wrap="square" lIns="0" rIns="0" tIns="0" bIns="0" anchor="t">
            <a:normAutofit/>
          </a:bodyPr>
          <a:lstStyle/>
          <a:p>
            <a:pPr algn="l"/>
            <a:r>
              <a:rPr sz="1150" b="1">
                <a:solidFill>
                  <a:srgbClr val="142632"/>
                </a:solidFill>
                <a:latin typeface="Aptos"/>
              </a:rPr>
              <a:t>Common, proven technologies</a:t>
            </a:r>
          </a:p>
        </p:txBody>
      </p:sp>
      <p:sp>
        <p:nvSpPr>
          <p:cNvPr id="14" name="Oval 13"/>
          <p:cNvSpPr/>
          <p:nvPr/>
        </p:nvSpPr>
        <p:spPr>
          <a:xfrm>
            <a:off x="932688" y="4133087"/>
            <a:ext cx="320040" cy="320040"/>
          </a:xfrm>
          <a:prstGeom prst="ellipse">
            <a:avLst/>
          </a:prstGeom>
          <a:solidFill>
            <a:srgbClr val="138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4142231"/>
            <a:ext cx="320040" cy="301751"/>
          </a:xfrm>
          <a:prstGeom prst="rect">
            <a:avLst/>
          </a:prstGeom>
          <a:noFill/>
        </p:spPr>
        <p:txBody>
          <a:bodyPr wrap="square" lIns="0" rIns="0" tIns="0" bIns="0" anchor="ctr">
            <a:normAutofit/>
          </a:bodyPr>
          <a:lstStyle/>
          <a:p>
            <a:pPr algn="ctr"/>
            <a:r>
              <a:rPr sz="1400" b="1">
                <a:solidFill>
                  <a:srgbClr val="091827"/>
                </a:solidFill>
                <a:latin typeface="Aptos"/>
              </a:rPr>
              <a:t>✓</a:t>
            </a:r>
          </a:p>
        </p:txBody>
      </p:sp>
      <p:sp>
        <p:nvSpPr>
          <p:cNvPr id="16" name="TextBox 15"/>
          <p:cNvSpPr txBox="1"/>
          <p:nvPr/>
        </p:nvSpPr>
        <p:spPr>
          <a:xfrm>
            <a:off x="1389888" y="4142231"/>
            <a:ext cx="3749039" cy="274320"/>
          </a:xfrm>
          <a:prstGeom prst="rect">
            <a:avLst/>
          </a:prstGeom>
          <a:noFill/>
        </p:spPr>
        <p:txBody>
          <a:bodyPr wrap="square" lIns="0" rIns="0" tIns="0" bIns="0" anchor="t">
            <a:normAutofit/>
          </a:bodyPr>
          <a:lstStyle/>
          <a:p>
            <a:pPr algn="l"/>
            <a:r>
              <a:rPr sz="1150" b="1">
                <a:solidFill>
                  <a:srgbClr val="142632"/>
                </a:solidFill>
                <a:latin typeface="Aptos"/>
              </a:rPr>
              <a:t>Can begin with a few partner NGOs</a:t>
            </a:r>
          </a:p>
        </p:txBody>
      </p:sp>
      <p:sp>
        <p:nvSpPr>
          <p:cNvPr id="17" name="TextBox 16"/>
          <p:cNvSpPr txBox="1"/>
          <p:nvPr/>
        </p:nvSpPr>
        <p:spPr>
          <a:xfrm>
            <a:off x="932688" y="4892040"/>
            <a:ext cx="1828800" cy="228600"/>
          </a:xfrm>
          <a:prstGeom prst="rect">
            <a:avLst/>
          </a:prstGeom>
          <a:noFill/>
        </p:spPr>
        <p:txBody>
          <a:bodyPr wrap="square" lIns="0" rIns="0" tIns="0" bIns="0" anchor="t">
            <a:normAutofit/>
          </a:bodyPr>
          <a:lstStyle/>
          <a:p>
            <a:pPr algn="l"/>
            <a:r>
              <a:rPr sz="950" b="1">
                <a:solidFill>
                  <a:srgbClr val="F5705B"/>
                </a:solidFill>
                <a:latin typeface="Aptos"/>
              </a:rPr>
              <a:t>HONEST LIMITATIONS</a:t>
            </a:r>
          </a:p>
        </p:txBody>
      </p:sp>
      <p:sp>
        <p:nvSpPr>
          <p:cNvPr id="18" name="TextBox 17"/>
          <p:cNvSpPr txBox="1"/>
          <p:nvPr/>
        </p:nvSpPr>
        <p:spPr>
          <a:xfrm>
            <a:off x="932688" y="5184648"/>
            <a:ext cx="4251960" cy="320040"/>
          </a:xfrm>
          <a:prstGeom prst="rect">
            <a:avLst/>
          </a:prstGeom>
          <a:noFill/>
        </p:spPr>
        <p:txBody>
          <a:bodyPr wrap="square" lIns="0" rIns="0" tIns="0" bIns="0" anchor="t">
            <a:normAutofit/>
          </a:bodyPr>
          <a:lstStyle/>
          <a:p>
            <a:pPr algn="l"/>
            <a:r>
              <a:rPr sz="910" b="0">
                <a:solidFill>
                  <a:srgbClr val="5C707E"/>
                </a:solidFill>
                <a:latin typeface="Aptos"/>
              </a:rPr>
              <a:t>NGO verification needs admin effort • proof depends on timely uploads • current version uses sample data • photos need careful privacy handling</a:t>
            </a:r>
          </a:p>
        </p:txBody>
      </p:sp>
      <p:sp>
        <p:nvSpPr>
          <p:cNvPr id="19" name="Rounded Rectangle 18"/>
          <p:cNvSpPr/>
          <p:nvPr/>
        </p:nvSpPr>
        <p:spPr>
          <a:xfrm>
            <a:off x="5989320" y="1901952"/>
            <a:ext cx="5532120" cy="3611880"/>
          </a:xfrm>
          <a:prstGeom prst="roundRect">
            <a:avLst/>
          </a:prstGeom>
          <a:solidFill>
            <a:srgbClr val="09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194560"/>
            <a:ext cx="1828800" cy="274320"/>
          </a:xfrm>
          <a:prstGeom prst="rect">
            <a:avLst/>
          </a:prstGeom>
          <a:noFill/>
        </p:spPr>
        <p:txBody>
          <a:bodyPr wrap="square" lIns="0" rIns="0" tIns="0" bIns="0" anchor="t">
            <a:normAutofit/>
          </a:bodyPr>
          <a:lstStyle/>
          <a:p>
            <a:pPr algn="l"/>
            <a:r>
              <a:rPr sz="1000" b="1">
                <a:solidFill>
                  <a:srgbClr val="1EBEA0"/>
                </a:solidFill>
                <a:latin typeface="Aptos"/>
              </a:rPr>
              <a:t>WHO BENEFITS</a:t>
            </a:r>
          </a:p>
        </p:txBody>
      </p:sp>
      <p:sp>
        <p:nvSpPr>
          <p:cNvPr id="21" name="Oval 20"/>
          <p:cNvSpPr/>
          <p:nvPr/>
        </p:nvSpPr>
        <p:spPr>
          <a:xfrm>
            <a:off x="6327648" y="2743200"/>
            <a:ext cx="347472" cy="347472"/>
          </a:xfrm>
          <a:prstGeom prst="ellipse">
            <a:avLst/>
          </a:prstGeom>
          <a:solidFill>
            <a:srgbClr val="1EB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39712" y="2761488"/>
            <a:ext cx="1143000" cy="201168"/>
          </a:xfrm>
          <a:prstGeom prst="rect">
            <a:avLst/>
          </a:prstGeom>
          <a:noFill/>
        </p:spPr>
        <p:txBody>
          <a:bodyPr wrap="square" lIns="0" rIns="0" tIns="0" bIns="0" anchor="t">
            <a:normAutofit/>
          </a:bodyPr>
          <a:lstStyle/>
          <a:p>
            <a:pPr algn="l"/>
            <a:r>
              <a:rPr sz="900" b="1">
                <a:solidFill>
                  <a:srgbClr val="1EBEA0"/>
                </a:solidFill>
                <a:latin typeface="Aptos"/>
              </a:rPr>
              <a:t>DONORS</a:t>
            </a:r>
          </a:p>
        </p:txBody>
      </p:sp>
      <p:sp>
        <p:nvSpPr>
          <p:cNvPr id="23" name="TextBox 22"/>
          <p:cNvSpPr txBox="1"/>
          <p:nvPr/>
        </p:nvSpPr>
        <p:spPr>
          <a:xfrm>
            <a:off x="7955279" y="2724912"/>
            <a:ext cx="3063240" cy="384048"/>
          </a:xfrm>
          <a:prstGeom prst="rect">
            <a:avLst/>
          </a:prstGeom>
          <a:noFill/>
        </p:spPr>
        <p:txBody>
          <a:bodyPr wrap="square" lIns="0" rIns="0" tIns="0" bIns="0" anchor="t">
            <a:normAutofit/>
          </a:bodyPr>
          <a:lstStyle/>
          <a:p>
            <a:pPr algn="l"/>
            <a:r>
              <a:rPr sz="1050" b="1">
                <a:solidFill>
                  <a:srgbClr val="F8FBFC"/>
                </a:solidFill>
                <a:latin typeface="Aptos"/>
              </a:rPr>
              <a:t>See results and give with more confidence</a:t>
            </a:r>
          </a:p>
        </p:txBody>
      </p:sp>
      <p:sp>
        <p:nvSpPr>
          <p:cNvPr id="24" name="Oval 23"/>
          <p:cNvSpPr/>
          <p:nvPr/>
        </p:nvSpPr>
        <p:spPr>
          <a:xfrm>
            <a:off x="6327648" y="3493008"/>
            <a:ext cx="347472" cy="347472"/>
          </a:xfrm>
          <a:prstGeom prst="ellipse">
            <a:avLst/>
          </a:prstGeom>
          <a:solidFill>
            <a:srgbClr val="F4B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39712" y="3511296"/>
            <a:ext cx="1143000" cy="201168"/>
          </a:xfrm>
          <a:prstGeom prst="rect">
            <a:avLst/>
          </a:prstGeom>
          <a:noFill/>
        </p:spPr>
        <p:txBody>
          <a:bodyPr wrap="square" lIns="0" rIns="0" tIns="0" bIns="0" anchor="t">
            <a:normAutofit/>
          </a:bodyPr>
          <a:lstStyle/>
          <a:p>
            <a:pPr algn="l"/>
            <a:r>
              <a:rPr sz="900" b="1">
                <a:solidFill>
                  <a:srgbClr val="F4B74C"/>
                </a:solidFill>
                <a:latin typeface="Aptos"/>
              </a:rPr>
              <a:t>LOCAL NGOs</a:t>
            </a:r>
          </a:p>
        </p:txBody>
      </p:sp>
      <p:sp>
        <p:nvSpPr>
          <p:cNvPr id="26" name="TextBox 25"/>
          <p:cNvSpPr txBox="1"/>
          <p:nvPr/>
        </p:nvSpPr>
        <p:spPr>
          <a:xfrm>
            <a:off x="7955279" y="3474720"/>
            <a:ext cx="3063240" cy="384048"/>
          </a:xfrm>
          <a:prstGeom prst="rect">
            <a:avLst/>
          </a:prstGeom>
          <a:noFill/>
        </p:spPr>
        <p:txBody>
          <a:bodyPr wrap="square" lIns="0" rIns="0" tIns="0" bIns="0" anchor="t">
            <a:normAutofit/>
          </a:bodyPr>
          <a:lstStyle/>
          <a:p>
            <a:pPr algn="l"/>
            <a:r>
              <a:rPr sz="1050" b="1">
                <a:solidFill>
                  <a:srgbClr val="F8FBFC"/>
                </a:solidFill>
                <a:latin typeface="Aptos"/>
              </a:rPr>
              <a:t>Build trust and reach supporters</a:t>
            </a:r>
          </a:p>
        </p:txBody>
      </p:sp>
      <p:sp>
        <p:nvSpPr>
          <p:cNvPr id="27" name="Oval 26"/>
          <p:cNvSpPr/>
          <p:nvPr/>
        </p:nvSpPr>
        <p:spPr>
          <a:xfrm>
            <a:off x="6327648" y="4242816"/>
            <a:ext cx="347472" cy="347472"/>
          </a:xfrm>
          <a:prstGeom prst="ellipse">
            <a:avLst/>
          </a:prstGeom>
          <a:solidFill>
            <a:srgbClr val="F570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39712" y="4261103"/>
            <a:ext cx="1143000" cy="201168"/>
          </a:xfrm>
          <a:prstGeom prst="rect">
            <a:avLst/>
          </a:prstGeom>
          <a:noFill/>
        </p:spPr>
        <p:txBody>
          <a:bodyPr wrap="square" lIns="0" rIns="0" tIns="0" bIns="0" anchor="t">
            <a:normAutofit/>
          </a:bodyPr>
          <a:lstStyle/>
          <a:p>
            <a:pPr algn="l"/>
            <a:r>
              <a:rPr sz="900" b="1">
                <a:solidFill>
                  <a:srgbClr val="F5705B"/>
                </a:solidFill>
                <a:latin typeface="Aptos"/>
              </a:rPr>
              <a:t>FAMILIES</a:t>
            </a:r>
          </a:p>
        </p:txBody>
      </p:sp>
      <p:sp>
        <p:nvSpPr>
          <p:cNvPr id="29" name="TextBox 28"/>
          <p:cNvSpPr txBox="1"/>
          <p:nvPr/>
        </p:nvSpPr>
        <p:spPr>
          <a:xfrm>
            <a:off x="7955279" y="4224528"/>
            <a:ext cx="3063240" cy="384048"/>
          </a:xfrm>
          <a:prstGeom prst="rect">
            <a:avLst/>
          </a:prstGeom>
          <a:noFill/>
        </p:spPr>
        <p:txBody>
          <a:bodyPr wrap="square" lIns="0" rIns="0" tIns="0" bIns="0" anchor="t">
            <a:normAutofit/>
          </a:bodyPr>
          <a:lstStyle/>
          <a:p>
            <a:pPr algn="l"/>
            <a:r>
              <a:rPr sz="1050" b="1">
                <a:solidFill>
                  <a:srgbClr val="F8FBFC"/>
                </a:solidFill>
                <a:latin typeface="Aptos"/>
              </a:rPr>
              <a:t>Receive support with privacy protected</a:t>
            </a:r>
          </a:p>
        </p:txBody>
      </p:sp>
      <p:sp>
        <p:nvSpPr>
          <p:cNvPr id="30" name="Rectangle 29"/>
          <p:cNvSpPr/>
          <p:nvPr/>
        </p:nvSpPr>
        <p:spPr>
          <a:xfrm>
            <a:off x="6309360" y="5074920"/>
            <a:ext cx="4754880" cy="18288"/>
          </a:xfrm>
          <a:prstGeom prst="rect">
            <a:avLst/>
          </a:prstGeom>
          <a:solidFill>
            <a:srgbClr val="1EB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5230368"/>
            <a:ext cx="1097280" cy="201168"/>
          </a:xfrm>
          <a:prstGeom prst="rect">
            <a:avLst/>
          </a:prstGeom>
          <a:noFill/>
        </p:spPr>
        <p:txBody>
          <a:bodyPr wrap="square" lIns="0" rIns="0" tIns="0" bIns="0" anchor="t">
            <a:normAutofit/>
          </a:bodyPr>
          <a:lstStyle/>
          <a:p>
            <a:pPr algn="l"/>
            <a:r>
              <a:rPr sz="850" b="1">
                <a:solidFill>
                  <a:srgbClr val="1EBEA0"/>
                </a:solidFill>
                <a:latin typeface="Aptos"/>
              </a:rPr>
              <a:t>CORE VALUE</a:t>
            </a:r>
          </a:p>
        </p:txBody>
      </p:sp>
      <p:sp>
        <p:nvSpPr>
          <p:cNvPr id="32" name="TextBox 31"/>
          <p:cNvSpPr txBox="1"/>
          <p:nvPr/>
        </p:nvSpPr>
        <p:spPr>
          <a:xfrm>
            <a:off x="7498079" y="5175504"/>
            <a:ext cx="3566160" cy="384048"/>
          </a:xfrm>
          <a:prstGeom prst="rect">
            <a:avLst/>
          </a:prstGeom>
          <a:noFill/>
        </p:spPr>
        <p:txBody>
          <a:bodyPr wrap="square" lIns="0" rIns="0" tIns="0" bIns="0" anchor="t">
            <a:normAutofit/>
          </a:bodyPr>
          <a:lstStyle/>
          <a:p>
            <a:pPr algn="l"/>
            <a:r>
              <a:rPr sz="1150" b="1">
                <a:solidFill>
                  <a:srgbClr val="F8FBFC"/>
                </a:solidFill>
                <a:latin typeface="Aptos"/>
              </a:rPr>
              <a:t>Turn a donation from a payment into a visible, traceable result.</a:t>
            </a:r>
          </a:p>
        </p:txBody>
      </p:sp>
      <p:sp>
        <p:nvSpPr>
          <p:cNvPr id="33" name="TextBox 32"/>
          <p:cNvSpPr txBox="1"/>
          <p:nvPr/>
        </p:nvSpPr>
        <p:spPr>
          <a:xfrm>
            <a:off x="640080" y="6547104"/>
            <a:ext cx="4572000" cy="182880"/>
          </a:xfrm>
          <a:prstGeom prst="rect">
            <a:avLst/>
          </a:prstGeom>
          <a:noFill/>
        </p:spPr>
        <p:txBody>
          <a:bodyPr wrap="square" lIns="0" rIns="0" tIns="0" bIns="0" anchor="t">
            <a:normAutofit/>
          </a:bodyPr>
          <a:lstStyle/>
          <a:p>
            <a:pPr algn="l"/>
            <a:r>
              <a:rPr sz="850" b="1">
                <a:solidFill>
                  <a:srgbClr val="80919A"/>
                </a:solidFill>
                <a:latin typeface="Aptos"/>
              </a:rPr>
              <a:t>DONATECONNECT  •  HACKFORGE IDEATHON</a:t>
            </a:r>
          </a:p>
        </p:txBody>
      </p:sp>
      <p:sp>
        <p:nvSpPr>
          <p:cNvPr id="34" name="TextBox 33"/>
          <p:cNvSpPr txBox="1"/>
          <p:nvPr/>
        </p:nvSpPr>
        <p:spPr>
          <a:xfrm>
            <a:off x="10972800" y="6519672"/>
            <a:ext cx="502920" cy="201168"/>
          </a:xfrm>
          <a:prstGeom prst="rect">
            <a:avLst/>
          </a:prstGeom>
          <a:noFill/>
        </p:spPr>
        <p:txBody>
          <a:bodyPr wrap="square" lIns="0" rIns="0" tIns="0" bIns="0" anchor="t">
            <a:normAutofit/>
          </a:bodyPr>
          <a:lstStyle/>
          <a:p>
            <a:pPr algn="r"/>
            <a:r>
              <a:rPr sz="900" b="1">
                <a:solidFill>
                  <a:srgbClr val="80919A"/>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1280160"/>
            <a:ext cx="4114800" cy="4114800"/>
          </a:xfrm>
          <a:prstGeom prst="ellipse">
            <a:avLst/>
          </a:prstGeom>
          <a:solidFill>
            <a:srgbClr val="1EB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332720" y="4937760"/>
            <a:ext cx="2286000" cy="2286000"/>
          </a:xfrm>
          <a:prstGeom prst="ellipse">
            <a:avLst/>
          </a:prstGeom>
          <a:solidFill>
            <a:srgbClr val="F4B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2286000" cy="256032"/>
          </a:xfrm>
          <a:prstGeom prst="rect">
            <a:avLst/>
          </a:prstGeom>
          <a:noFill/>
        </p:spPr>
        <p:txBody>
          <a:bodyPr wrap="square" lIns="0" rIns="0" tIns="0" bIns="0" anchor="t">
            <a:normAutofit/>
          </a:bodyPr>
          <a:lstStyle/>
          <a:p>
            <a:pPr algn="l"/>
            <a:r>
              <a:rPr sz="1000" b="1">
                <a:solidFill>
                  <a:srgbClr val="1EBEA0"/>
                </a:solidFill>
                <a:latin typeface="Aptos"/>
              </a:rPr>
              <a:t>09 • THE TAKEAWAY</a:t>
            </a:r>
          </a:p>
        </p:txBody>
      </p:sp>
      <p:sp>
        <p:nvSpPr>
          <p:cNvPr id="6" name="TextBox 5"/>
          <p:cNvSpPr txBox="1"/>
          <p:nvPr/>
        </p:nvSpPr>
        <p:spPr>
          <a:xfrm>
            <a:off x="685800" y="1170432"/>
            <a:ext cx="7680960" cy="1143000"/>
          </a:xfrm>
          <a:prstGeom prst="rect">
            <a:avLst/>
          </a:prstGeom>
          <a:noFill/>
        </p:spPr>
        <p:txBody>
          <a:bodyPr wrap="square" lIns="0" rIns="0" tIns="0" bIns="0" anchor="t">
            <a:normAutofit/>
          </a:bodyPr>
          <a:lstStyle/>
          <a:p>
            <a:pPr algn="l"/>
            <a:r>
              <a:rPr sz="3400" b="1">
                <a:solidFill>
                  <a:srgbClr val="F8FBFC"/>
                </a:solidFill>
                <a:latin typeface="Aptos"/>
              </a:rPr>
              <a:t>Every donation deserves
an outcome you can see.</a:t>
            </a:r>
          </a:p>
        </p:txBody>
      </p:sp>
      <p:sp>
        <p:nvSpPr>
          <p:cNvPr id="7" name="TextBox 6"/>
          <p:cNvSpPr txBox="1"/>
          <p:nvPr/>
        </p:nvSpPr>
        <p:spPr>
          <a:xfrm>
            <a:off x="713232" y="2578608"/>
            <a:ext cx="7680960" cy="502920"/>
          </a:xfrm>
          <a:prstGeom prst="rect">
            <a:avLst/>
          </a:prstGeom>
          <a:noFill/>
        </p:spPr>
        <p:txBody>
          <a:bodyPr wrap="square" lIns="0" rIns="0" tIns="0" bIns="0" anchor="t">
            <a:normAutofit/>
          </a:bodyPr>
          <a:lstStyle/>
          <a:p>
            <a:pPr algn="l"/>
            <a:r>
              <a:rPr sz="1700" b="0">
                <a:solidFill>
                  <a:srgbClr val="AEC1CD"/>
                </a:solidFill>
                <a:latin typeface="Aptos"/>
              </a:rPr>
              <a:t>Donation DC1025 should reach a family — and the donor should be able to see it.</a:t>
            </a:r>
          </a:p>
        </p:txBody>
      </p:sp>
      <p:sp>
        <p:nvSpPr>
          <p:cNvPr id="8" name="Rounded Rectangle 7"/>
          <p:cNvSpPr/>
          <p:nvPr/>
        </p:nvSpPr>
        <p:spPr>
          <a:xfrm>
            <a:off x="713232" y="3703320"/>
            <a:ext cx="1664208" cy="1024128"/>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886200"/>
            <a:ext cx="1444752" cy="201168"/>
          </a:xfrm>
          <a:prstGeom prst="rect">
            <a:avLst/>
          </a:prstGeom>
          <a:noFill/>
        </p:spPr>
        <p:txBody>
          <a:bodyPr wrap="square" lIns="0" rIns="0" tIns="0" bIns="0" anchor="t">
            <a:normAutofit/>
          </a:bodyPr>
          <a:lstStyle/>
          <a:p>
            <a:pPr algn="ctr"/>
            <a:r>
              <a:rPr sz="850" b="1">
                <a:solidFill>
                  <a:srgbClr val="1EBEA0"/>
                </a:solidFill>
                <a:latin typeface="Aptos"/>
              </a:rPr>
              <a:t>GIVE</a:t>
            </a:r>
          </a:p>
        </p:txBody>
      </p:sp>
      <p:sp>
        <p:nvSpPr>
          <p:cNvPr id="10" name="TextBox 9"/>
          <p:cNvSpPr txBox="1"/>
          <p:nvPr/>
        </p:nvSpPr>
        <p:spPr>
          <a:xfrm>
            <a:off x="822960" y="4197096"/>
            <a:ext cx="1444752" cy="256032"/>
          </a:xfrm>
          <a:prstGeom prst="rect">
            <a:avLst/>
          </a:prstGeom>
          <a:noFill/>
        </p:spPr>
        <p:txBody>
          <a:bodyPr wrap="square" lIns="0" rIns="0" tIns="0" bIns="0" anchor="t">
            <a:normAutofit/>
          </a:bodyPr>
          <a:lstStyle/>
          <a:p>
            <a:pPr algn="ctr"/>
            <a:r>
              <a:rPr sz="1050" b="1">
                <a:solidFill>
                  <a:srgbClr val="F8FBFC"/>
                </a:solidFill>
                <a:latin typeface="Aptos"/>
              </a:rPr>
              <a:t>Donation</a:t>
            </a:r>
          </a:p>
        </p:txBody>
      </p:sp>
      <p:cxnSp>
        <p:nvCxnSpPr>
          <p:cNvPr id="11" name="Connector 10"/>
          <p:cNvCxnSpPr/>
          <p:nvPr/>
        </p:nvCxnSpPr>
        <p:spPr>
          <a:xfrm>
            <a:off x="2414016" y="4215384"/>
            <a:ext cx="201168" cy="0"/>
          </a:xfrm>
          <a:prstGeom prst="line">
            <a:avLst/>
          </a:prstGeom>
          <a:ln w="21590">
            <a:solidFill>
              <a:srgbClr val="AEC1C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679191" y="3703320"/>
            <a:ext cx="1664208" cy="1024128"/>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88920" y="3886200"/>
            <a:ext cx="1444752" cy="201168"/>
          </a:xfrm>
          <a:prstGeom prst="rect">
            <a:avLst/>
          </a:prstGeom>
          <a:noFill/>
        </p:spPr>
        <p:txBody>
          <a:bodyPr wrap="square" lIns="0" rIns="0" tIns="0" bIns="0" anchor="t">
            <a:normAutofit/>
          </a:bodyPr>
          <a:lstStyle/>
          <a:p>
            <a:pPr algn="ctr"/>
            <a:r>
              <a:rPr sz="850" b="1">
                <a:solidFill>
                  <a:srgbClr val="F4B74C"/>
                </a:solidFill>
                <a:latin typeface="Aptos"/>
              </a:rPr>
              <a:t>ID</a:t>
            </a:r>
          </a:p>
        </p:txBody>
      </p:sp>
      <p:sp>
        <p:nvSpPr>
          <p:cNvPr id="14" name="TextBox 13"/>
          <p:cNvSpPr txBox="1"/>
          <p:nvPr/>
        </p:nvSpPr>
        <p:spPr>
          <a:xfrm>
            <a:off x="2788920" y="4197096"/>
            <a:ext cx="1444752" cy="256032"/>
          </a:xfrm>
          <a:prstGeom prst="rect">
            <a:avLst/>
          </a:prstGeom>
          <a:noFill/>
        </p:spPr>
        <p:txBody>
          <a:bodyPr wrap="square" lIns="0" rIns="0" tIns="0" bIns="0" anchor="t">
            <a:normAutofit/>
          </a:bodyPr>
          <a:lstStyle/>
          <a:p>
            <a:pPr algn="ctr"/>
            <a:r>
              <a:rPr sz="1050" b="1">
                <a:solidFill>
                  <a:srgbClr val="F8FBFC"/>
                </a:solidFill>
                <a:latin typeface="Aptos"/>
              </a:rPr>
              <a:t>DC1025</a:t>
            </a:r>
          </a:p>
        </p:txBody>
      </p:sp>
      <p:cxnSp>
        <p:nvCxnSpPr>
          <p:cNvPr id="15" name="Connector 14"/>
          <p:cNvCxnSpPr/>
          <p:nvPr/>
        </p:nvCxnSpPr>
        <p:spPr>
          <a:xfrm>
            <a:off x="4379976" y="4215384"/>
            <a:ext cx="201168" cy="0"/>
          </a:xfrm>
          <a:prstGeom prst="line">
            <a:avLst/>
          </a:prstGeom>
          <a:ln w="21590">
            <a:solidFill>
              <a:srgbClr val="AEC1C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645152" y="3703320"/>
            <a:ext cx="1664208" cy="1024128"/>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0" y="3886200"/>
            <a:ext cx="1444752" cy="201168"/>
          </a:xfrm>
          <a:prstGeom prst="rect">
            <a:avLst/>
          </a:prstGeom>
          <a:noFill/>
        </p:spPr>
        <p:txBody>
          <a:bodyPr wrap="square" lIns="0" rIns="0" tIns="0" bIns="0" anchor="t">
            <a:normAutofit/>
          </a:bodyPr>
          <a:lstStyle/>
          <a:p>
            <a:pPr algn="ctr"/>
            <a:r>
              <a:rPr sz="850" b="1">
                <a:solidFill>
                  <a:srgbClr val="F5705B"/>
                </a:solidFill>
                <a:latin typeface="Aptos"/>
              </a:rPr>
              <a:t>PROOF</a:t>
            </a:r>
          </a:p>
        </p:txBody>
      </p:sp>
      <p:sp>
        <p:nvSpPr>
          <p:cNvPr id="18" name="TextBox 17"/>
          <p:cNvSpPr txBox="1"/>
          <p:nvPr/>
        </p:nvSpPr>
        <p:spPr>
          <a:xfrm>
            <a:off x="4754880" y="4197096"/>
            <a:ext cx="1444752" cy="256032"/>
          </a:xfrm>
          <a:prstGeom prst="rect">
            <a:avLst/>
          </a:prstGeom>
          <a:noFill/>
        </p:spPr>
        <p:txBody>
          <a:bodyPr wrap="square" lIns="0" rIns="0" tIns="0" bIns="0" anchor="t">
            <a:normAutofit/>
          </a:bodyPr>
          <a:lstStyle/>
          <a:p>
            <a:pPr algn="ctr"/>
            <a:r>
              <a:rPr sz="1050" b="1">
                <a:solidFill>
                  <a:srgbClr val="F8FBFC"/>
                </a:solidFill>
                <a:latin typeface="Aptos"/>
              </a:rPr>
              <a:t>Photo + receipt</a:t>
            </a:r>
          </a:p>
        </p:txBody>
      </p:sp>
      <p:cxnSp>
        <p:nvCxnSpPr>
          <p:cNvPr id="19" name="Connector 18"/>
          <p:cNvCxnSpPr/>
          <p:nvPr/>
        </p:nvCxnSpPr>
        <p:spPr>
          <a:xfrm>
            <a:off x="6345936" y="4215384"/>
            <a:ext cx="201168" cy="0"/>
          </a:xfrm>
          <a:prstGeom prst="line">
            <a:avLst/>
          </a:prstGeom>
          <a:ln w="21590">
            <a:solidFill>
              <a:srgbClr val="AEC1CD"/>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611112" y="3703320"/>
            <a:ext cx="1664208" cy="1024128"/>
          </a:xfrm>
          <a:prstGeom prst="roundRect">
            <a:avLst/>
          </a:prstGeom>
          <a:solidFill>
            <a:srgbClr val="1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3886200"/>
            <a:ext cx="1444752" cy="201168"/>
          </a:xfrm>
          <a:prstGeom prst="rect">
            <a:avLst/>
          </a:prstGeom>
          <a:noFill/>
        </p:spPr>
        <p:txBody>
          <a:bodyPr wrap="square" lIns="0" rIns="0" tIns="0" bIns="0" anchor="t">
            <a:normAutofit/>
          </a:bodyPr>
          <a:lstStyle/>
          <a:p>
            <a:pPr algn="ctr"/>
            <a:r>
              <a:rPr sz="850" b="1">
                <a:solidFill>
                  <a:srgbClr val="1EBEA0"/>
                </a:solidFill>
                <a:latin typeface="Aptos"/>
              </a:rPr>
              <a:t>TRUST</a:t>
            </a:r>
          </a:p>
        </p:txBody>
      </p:sp>
      <p:sp>
        <p:nvSpPr>
          <p:cNvPr id="22" name="TextBox 21"/>
          <p:cNvSpPr txBox="1"/>
          <p:nvPr/>
        </p:nvSpPr>
        <p:spPr>
          <a:xfrm>
            <a:off x="6720840" y="4197096"/>
            <a:ext cx="1444752" cy="256032"/>
          </a:xfrm>
          <a:prstGeom prst="rect">
            <a:avLst/>
          </a:prstGeom>
          <a:noFill/>
        </p:spPr>
        <p:txBody>
          <a:bodyPr wrap="square" lIns="0" rIns="0" tIns="0" bIns="0" anchor="t">
            <a:normAutofit/>
          </a:bodyPr>
          <a:lstStyle/>
          <a:p>
            <a:pPr algn="ctr"/>
            <a:r>
              <a:rPr sz="1050" b="1">
                <a:solidFill>
                  <a:srgbClr val="F8FBFC"/>
                </a:solidFill>
                <a:latin typeface="Aptos"/>
              </a:rPr>
              <a:t>Visible impact</a:t>
            </a:r>
          </a:p>
        </p:txBody>
      </p:sp>
      <p:sp>
        <p:nvSpPr>
          <p:cNvPr id="23" name="TextBox 22"/>
          <p:cNvSpPr txBox="1"/>
          <p:nvPr/>
        </p:nvSpPr>
        <p:spPr>
          <a:xfrm>
            <a:off x="8641080" y="3730752"/>
            <a:ext cx="2194560" cy="502920"/>
          </a:xfrm>
          <a:prstGeom prst="rect">
            <a:avLst/>
          </a:prstGeom>
          <a:noFill/>
        </p:spPr>
        <p:txBody>
          <a:bodyPr wrap="square" lIns="0" rIns="0" tIns="0" bIns="0" anchor="t">
            <a:normAutofit/>
          </a:bodyPr>
          <a:lstStyle/>
          <a:p>
            <a:pPr algn="ctr"/>
            <a:r>
              <a:rPr sz="2400" b="1">
                <a:solidFill>
                  <a:srgbClr val="F8FBFC"/>
                </a:solidFill>
                <a:latin typeface="Aptos"/>
              </a:rPr>
              <a:t>Thank you.</a:t>
            </a:r>
          </a:p>
        </p:txBody>
      </p:sp>
      <p:sp>
        <p:nvSpPr>
          <p:cNvPr id="24" name="TextBox 23"/>
          <p:cNvSpPr txBox="1"/>
          <p:nvPr/>
        </p:nvSpPr>
        <p:spPr>
          <a:xfrm>
            <a:off x="8641080" y="4370832"/>
            <a:ext cx="2194560" cy="320040"/>
          </a:xfrm>
          <a:prstGeom prst="rect">
            <a:avLst/>
          </a:prstGeom>
          <a:noFill/>
        </p:spPr>
        <p:txBody>
          <a:bodyPr wrap="square" lIns="0" rIns="0" tIns="0" bIns="0" anchor="t">
            <a:normAutofit/>
          </a:bodyPr>
          <a:lstStyle/>
          <a:p>
            <a:pPr algn="ctr"/>
            <a:r>
              <a:rPr sz="1400" b="1">
                <a:solidFill>
                  <a:srgbClr val="1EBEA0"/>
                </a:solidFill>
                <a:latin typeface="Aptos"/>
              </a:rPr>
              <a:t>Questions?</a:t>
            </a:r>
          </a:p>
        </p:txBody>
      </p:sp>
      <p:sp>
        <p:nvSpPr>
          <p:cNvPr id="25" name="TextBox 24"/>
          <p:cNvSpPr txBox="1"/>
          <p:nvPr/>
        </p:nvSpPr>
        <p:spPr>
          <a:xfrm>
            <a:off x="8641080" y="4919472"/>
            <a:ext cx="2194560" cy="228600"/>
          </a:xfrm>
          <a:prstGeom prst="rect">
            <a:avLst/>
          </a:prstGeom>
          <a:noFill/>
        </p:spPr>
        <p:txBody>
          <a:bodyPr wrap="square" lIns="0" rIns="0" tIns="0" bIns="0" anchor="t">
            <a:normAutofit/>
          </a:bodyPr>
          <a:lstStyle/>
          <a:p>
            <a:pPr algn="ctr"/>
            <a:r>
              <a:rPr sz="1050" b="0">
                <a:solidFill>
                  <a:srgbClr val="AEC1CD"/>
                </a:solidFill>
                <a:latin typeface="Aptos"/>
              </a:rPr>
              <a:t>Divyansh  •  Shivam</a:t>
            </a:r>
          </a:p>
        </p:txBody>
      </p:sp>
      <p:sp>
        <p:nvSpPr>
          <p:cNvPr id="26" name="TextBox 25"/>
          <p:cNvSpPr txBox="1"/>
          <p:nvPr/>
        </p:nvSpPr>
        <p:spPr>
          <a:xfrm>
            <a:off x="640080" y="6547104"/>
            <a:ext cx="4572000" cy="182880"/>
          </a:xfrm>
          <a:prstGeom prst="rect">
            <a:avLst/>
          </a:prstGeom>
          <a:noFill/>
        </p:spPr>
        <p:txBody>
          <a:bodyPr wrap="square" lIns="0" rIns="0" tIns="0" bIns="0" anchor="t">
            <a:normAutofit/>
          </a:bodyPr>
          <a:lstStyle/>
          <a:p>
            <a:pPr algn="l"/>
            <a:r>
              <a:rPr sz="850" b="1">
                <a:solidFill>
                  <a:srgbClr val="5D7989"/>
                </a:solidFill>
                <a:latin typeface="Aptos"/>
              </a:rPr>
              <a:t>DONATECONNECT  •  HACKFORGE IDEATHON</a:t>
            </a:r>
          </a:p>
        </p:txBody>
      </p:sp>
      <p:sp>
        <p:nvSpPr>
          <p:cNvPr id="27" name="TextBox 26"/>
          <p:cNvSpPr txBox="1"/>
          <p:nvPr/>
        </p:nvSpPr>
        <p:spPr>
          <a:xfrm>
            <a:off x="10972800" y="6519672"/>
            <a:ext cx="502920" cy="201168"/>
          </a:xfrm>
          <a:prstGeom prst="rect">
            <a:avLst/>
          </a:prstGeom>
          <a:noFill/>
        </p:spPr>
        <p:txBody>
          <a:bodyPr wrap="square" lIns="0" rIns="0" tIns="0" bIns="0" anchor="t">
            <a:normAutofit/>
          </a:bodyPr>
          <a:lstStyle/>
          <a:p>
            <a:pPr algn="r"/>
            <a:r>
              <a:rPr sz="900" b="1">
                <a:solidFill>
                  <a:srgbClr val="5D7989"/>
                </a:solidFill>
                <a:latin typeface="Aptos"/>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